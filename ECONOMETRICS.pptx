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7" r:id="rId2"/>
    <p:sldId id="273" r:id="rId3"/>
    <p:sldId id="274" r:id="rId4"/>
    <p:sldId id="275" r:id="rId5"/>
    <p:sldId id="277" r:id="rId6"/>
    <p:sldId id="256" r:id="rId7"/>
    <p:sldId id="259" r:id="rId8"/>
    <p:sldId id="263" r:id="rId9"/>
    <p:sldId id="262" r:id="rId10"/>
    <p:sldId id="264" r:id="rId11"/>
    <p:sldId id="260" r:id="rId12"/>
    <p:sldId id="265" r:id="rId13"/>
    <p:sldId id="266" r:id="rId14"/>
    <p:sldId id="267" r:id="rId15"/>
    <p:sldId id="284" r:id="rId16"/>
    <p:sldId id="285" r:id="rId17"/>
    <p:sldId id="286" r:id="rId18"/>
    <p:sldId id="287" r:id="rId19"/>
    <p:sldId id="288" r:id="rId20"/>
    <p:sldId id="268" r:id="rId21"/>
    <p:sldId id="270" r:id="rId22"/>
    <p:sldId id="272" r:id="rId23"/>
    <p:sldId id="289" r:id="rId24"/>
    <p:sldId id="290" r:id="rId25"/>
    <p:sldId id="291" r:id="rId26"/>
    <p:sldId id="278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279" r:id="rId41"/>
    <p:sldId id="280" r:id="rId42"/>
    <p:sldId id="281" r:id="rId43"/>
    <p:sldId id="282" r:id="rId44"/>
    <p:sldId id="283" r:id="rId45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4"/>
  </p:normalViewPr>
  <p:slideViewPr>
    <p:cSldViewPr snapToGrid="0">
      <p:cViewPr>
        <p:scale>
          <a:sx n="109" d="100"/>
          <a:sy n="109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1E5308-6A7A-4745-81F0-328AF5FF0F00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B8C329-9C34-004D-BFAE-C38FBC292646}">
      <dgm:prSet phldrT="[Text]"/>
      <dgm:spPr>
        <a:solidFill>
          <a:srgbClr val="FF0000">
            <a:alpha val="50183"/>
          </a:srgbClr>
        </a:solidFill>
      </dgm:spPr>
      <dgm:t>
        <a:bodyPr/>
        <a:lstStyle/>
        <a:p>
          <a:r>
            <a:rPr lang="en-US" dirty="0"/>
            <a:t>BLUE</a:t>
          </a:r>
        </a:p>
      </dgm:t>
    </dgm:pt>
    <dgm:pt modelId="{4C1996A7-117A-0644-91F6-7ADC089D48D9}" type="parTrans" cxnId="{97E844AF-D83B-9841-9792-543A48873E79}">
      <dgm:prSet/>
      <dgm:spPr/>
      <dgm:t>
        <a:bodyPr/>
        <a:lstStyle/>
        <a:p>
          <a:endParaRPr lang="en-US"/>
        </a:p>
      </dgm:t>
    </dgm:pt>
    <dgm:pt modelId="{45486259-BC7F-7149-A51E-1B86E2F09AB3}" type="sibTrans" cxnId="{97E844AF-D83B-9841-9792-543A48873E79}">
      <dgm:prSet/>
      <dgm:spPr/>
      <dgm:t>
        <a:bodyPr/>
        <a:lstStyle/>
        <a:p>
          <a:endParaRPr lang="en-US"/>
        </a:p>
      </dgm:t>
    </dgm:pt>
    <dgm:pt modelId="{E1435667-F89E-0145-BDE3-7F8037EC4987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US" dirty="0" err="1"/>
            <a:t>Homoskedastic</a:t>
          </a:r>
          <a:endParaRPr lang="en-US" dirty="0"/>
        </a:p>
      </dgm:t>
    </dgm:pt>
    <dgm:pt modelId="{6E0EFE99-8CEB-3D4A-A6A6-67E4399095BD}" type="parTrans" cxnId="{3BF4ED81-9B7B-1B4C-8EF1-AA6E32F9B07B}">
      <dgm:prSet/>
      <dgm:spPr/>
      <dgm:t>
        <a:bodyPr/>
        <a:lstStyle/>
        <a:p>
          <a:endParaRPr lang="en-US"/>
        </a:p>
      </dgm:t>
    </dgm:pt>
    <dgm:pt modelId="{F28D3E99-D689-9841-8E0B-9C62B4DBC546}" type="sibTrans" cxnId="{3BF4ED81-9B7B-1B4C-8EF1-AA6E32F9B07B}">
      <dgm:prSet/>
      <dgm:spPr/>
      <dgm:t>
        <a:bodyPr/>
        <a:lstStyle/>
        <a:p>
          <a:endParaRPr lang="en-US"/>
        </a:p>
      </dgm:t>
    </dgm:pt>
    <dgm:pt modelId="{CD9F84BD-3AAB-4C4B-AC1B-62AEE00546AF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US" dirty="0"/>
            <a:t>OLS-Ordinary Least Square</a:t>
          </a:r>
        </a:p>
      </dgm:t>
    </dgm:pt>
    <dgm:pt modelId="{52D295C5-45B6-AC46-A9C7-79BAD07E26C6}" type="parTrans" cxnId="{D8540228-31FE-AC4C-9C2B-2BAB49072EFC}">
      <dgm:prSet/>
      <dgm:spPr/>
      <dgm:t>
        <a:bodyPr/>
        <a:lstStyle/>
        <a:p>
          <a:endParaRPr lang="en-US"/>
        </a:p>
      </dgm:t>
    </dgm:pt>
    <dgm:pt modelId="{56CE33C8-92F3-944B-AB6D-B0DAE2CEE68D}" type="sibTrans" cxnId="{D8540228-31FE-AC4C-9C2B-2BAB49072EFC}">
      <dgm:prSet/>
      <dgm:spPr/>
      <dgm:t>
        <a:bodyPr/>
        <a:lstStyle/>
        <a:p>
          <a:endParaRPr lang="en-US"/>
        </a:p>
      </dgm:t>
    </dgm:pt>
    <dgm:pt modelId="{09D6E8DA-C37B-724F-A852-EBEE0BF949D2}" type="pres">
      <dgm:prSet presAssocID="{2D1E5308-6A7A-4745-81F0-328AF5FF0F00}" presName="Name0" presStyleCnt="0">
        <dgm:presLayoutVars>
          <dgm:chMax val="7"/>
          <dgm:chPref val="7"/>
          <dgm:dir/>
        </dgm:presLayoutVars>
      </dgm:prSet>
      <dgm:spPr/>
    </dgm:pt>
    <dgm:pt modelId="{C778E129-720A-F940-835D-F010F8860AC7}" type="pres">
      <dgm:prSet presAssocID="{2D1E5308-6A7A-4745-81F0-328AF5FF0F00}" presName="Name1" presStyleCnt="0"/>
      <dgm:spPr/>
    </dgm:pt>
    <dgm:pt modelId="{5E6D0F7B-FE8A-7145-B6C2-01118430C632}" type="pres">
      <dgm:prSet presAssocID="{2D1E5308-6A7A-4745-81F0-328AF5FF0F00}" presName="cycle" presStyleCnt="0"/>
      <dgm:spPr/>
    </dgm:pt>
    <dgm:pt modelId="{946BD381-B05C-DD43-A48E-9D02879F9E7C}" type="pres">
      <dgm:prSet presAssocID="{2D1E5308-6A7A-4745-81F0-328AF5FF0F00}" presName="srcNode" presStyleLbl="node1" presStyleIdx="0" presStyleCnt="3"/>
      <dgm:spPr/>
    </dgm:pt>
    <dgm:pt modelId="{7648E883-F73E-B843-8BF5-763EA688F862}" type="pres">
      <dgm:prSet presAssocID="{2D1E5308-6A7A-4745-81F0-328AF5FF0F00}" presName="conn" presStyleLbl="parChTrans1D2" presStyleIdx="0" presStyleCnt="1"/>
      <dgm:spPr/>
    </dgm:pt>
    <dgm:pt modelId="{25FD2987-969B-BD44-B581-2B632AB51FF6}" type="pres">
      <dgm:prSet presAssocID="{2D1E5308-6A7A-4745-81F0-328AF5FF0F00}" presName="extraNode" presStyleLbl="node1" presStyleIdx="0" presStyleCnt="3"/>
      <dgm:spPr/>
    </dgm:pt>
    <dgm:pt modelId="{6CD1077E-9C5A-924C-9041-6BA22A00C0CD}" type="pres">
      <dgm:prSet presAssocID="{2D1E5308-6A7A-4745-81F0-328AF5FF0F00}" presName="dstNode" presStyleLbl="node1" presStyleIdx="0" presStyleCnt="3"/>
      <dgm:spPr/>
    </dgm:pt>
    <dgm:pt modelId="{9081A63F-0926-5149-8186-EFE76F2AF6EA}" type="pres">
      <dgm:prSet presAssocID="{07B8C329-9C34-004D-BFAE-C38FBC292646}" presName="text_1" presStyleLbl="node1" presStyleIdx="0" presStyleCnt="3">
        <dgm:presLayoutVars>
          <dgm:bulletEnabled val="1"/>
        </dgm:presLayoutVars>
      </dgm:prSet>
      <dgm:spPr/>
    </dgm:pt>
    <dgm:pt modelId="{48D8F49A-2ACE-CF4E-88E0-C3AF68CFF59F}" type="pres">
      <dgm:prSet presAssocID="{07B8C329-9C34-004D-BFAE-C38FBC292646}" presName="accent_1" presStyleCnt="0"/>
      <dgm:spPr/>
    </dgm:pt>
    <dgm:pt modelId="{BE8F7341-8AB9-124F-8A39-615235DA3F26}" type="pres">
      <dgm:prSet presAssocID="{07B8C329-9C34-004D-BFAE-C38FBC292646}" presName="accentRepeatNode" presStyleLbl="solidFgAcc1" presStyleIdx="0" presStyleCnt="3"/>
      <dgm:spPr>
        <a:solidFill>
          <a:schemeClr val="tx2">
            <a:lumMod val="25000"/>
            <a:lumOff val="75000"/>
          </a:schemeClr>
        </a:solidFill>
        <a:ln>
          <a:solidFill>
            <a:schemeClr val="tx2">
              <a:lumMod val="50000"/>
              <a:lumOff val="50000"/>
            </a:schemeClr>
          </a:solidFill>
        </a:ln>
      </dgm:spPr>
    </dgm:pt>
    <dgm:pt modelId="{1FA3E873-BE94-BF40-9224-7FDB3E441A29}" type="pres">
      <dgm:prSet presAssocID="{E1435667-F89E-0145-BDE3-7F8037EC4987}" presName="text_2" presStyleLbl="node1" presStyleIdx="1" presStyleCnt="3">
        <dgm:presLayoutVars>
          <dgm:bulletEnabled val="1"/>
        </dgm:presLayoutVars>
      </dgm:prSet>
      <dgm:spPr/>
    </dgm:pt>
    <dgm:pt modelId="{04CBF52F-64EF-474C-A149-4C99B7061E14}" type="pres">
      <dgm:prSet presAssocID="{E1435667-F89E-0145-BDE3-7F8037EC4987}" presName="accent_2" presStyleCnt="0"/>
      <dgm:spPr/>
    </dgm:pt>
    <dgm:pt modelId="{19E63071-BBBF-E44F-86BF-732BE46F9703}" type="pres">
      <dgm:prSet presAssocID="{E1435667-F89E-0145-BDE3-7F8037EC4987}" presName="accentRepeatNode" presStyleLbl="solidFgAcc1" presStyleIdx="1" presStyleCnt="3"/>
      <dgm:spPr>
        <a:solidFill>
          <a:srgbClr val="FFC000"/>
        </a:solidFill>
      </dgm:spPr>
    </dgm:pt>
    <dgm:pt modelId="{C03AAF67-2470-AD4D-A539-3972A35A13B8}" type="pres">
      <dgm:prSet presAssocID="{CD9F84BD-3AAB-4C4B-AC1B-62AEE00546AF}" presName="text_3" presStyleLbl="node1" presStyleIdx="2" presStyleCnt="3">
        <dgm:presLayoutVars>
          <dgm:bulletEnabled val="1"/>
        </dgm:presLayoutVars>
      </dgm:prSet>
      <dgm:spPr/>
    </dgm:pt>
    <dgm:pt modelId="{7AE75D0E-985E-1548-A086-311AB00C277D}" type="pres">
      <dgm:prSet presAssocID="{CD9F84BD-3AAB-4C4B-AC1B-62AEE00546AF}" presName="accent_3" presStyleCnt="0"/>
      <dgm:spPr/>
    </dgm:pt>
    <dgm:pt modelId="{47FADF29-93E4-BE45-8B0C-4C1A00661A56}" type="pres">
      <dgm:prSet presAssocID="{CD9F84BD-3AAB-4C4B-AC1B-62AEE00546AF}" presName="accentRepeatNode" presStyleLbl="solidFgAcc1" presStyleIdx="2" presStyleCnt="3"/>
      <dgm:spPr>
        <a:solidFill>
          <a:srgbClr val="92D050"/>
        </a:solidFill>
      </dgm:spPr>
    </dgm:pt>
  </dgm:ptLst>
  <dgm:cxnLst>
    <dgm:cxn modelId="{4BF76301-413E-8245-A14A-5F660D569A19}" type="presOf" srcId="{45486259-BC7F-7149-A51E-1B86E2F09AB3}" destId="{7648E883-F73E-B843-8BF5-763EA688F862}" srcOrd="0" destOrd="0" presId="urn:microsoft.com/office/officeart/2008/layout/VerticalCurvedList"/>
    <dgm:cxn modelId="{2B737E0E-2001-B44B-94FD-90A71A6B6F5F}" type="presOf" srcId="{07B8C329-9C34-004D-BFAE-C38FBC292646}" destId="{9081A63F-0926-5149-8186-EFE76F2AF6EA}" srcOrd="0" destOrd="0" presId="urn:microsoft.com/office/officeart/2008/layout/VerticalCurvedList"/>
    <dgm:cxn modelId="{D8540228-31FE-AC4C-9C2B-2BAB49072EFC}" srcId="{2D1E5308-6A7A-4745-81F0-328AF5FF0F00}" destId="{CD9F84BD-3AAB-4C4B-AC1B-62AEE00546AF}" srcOrd="2" destOrd="0" parTransId="{52D295C5-45B6-AC46-A9C7-79BAD07E26C6}" sibTransId="{56CE33C8-92F3-944B-AB6D-B0DAE2CEE68D}"/>
    <dgm:cxn modelId="{B750142D-5181-FA4E-AB50-146FD53FE5E0}" type="presOf" srcId="{CD9F84BD-3AAB-4C4B-AC1B-62AEE00546AF}" destId="{C03AAF67-2470-AD4D-A539-3972A35A13B8}" srcOrd="0" destOrd="0" presId="urn:microsoft.com/office/officeart/2008/layout/VerticalCurvedList"/>
    <dgm:cxn modelId="{3BF4ED81-9B7B-1B4C-8EF1-AA6E32F9B07B}" srcId="{2D1E5308-6A7A-4745-81F0-328AF5FF0F00}" destId="{E1435667-F89E-0145-BDE3-7F8037EC4987}" srcOrd="1" destOrd="0" parTransId="{6E0EFE99-8CEB-3D4A-A6A6-67E4399095BD}" sibTransId="{F28D3E99-D689-9841-8E0B-9C62B4DBC546}"/>
    <dgm:cxn modelId="{97E844AF-D83B-9841-9792-543A48873E79}" srcId="{2D1E5308-6A7A-4745-81F0-328AF5FF0F00}" destId="{07B8C329-9C34-004D-BFAE-C38FBC292646}" srcOrd="0" destOrd="0" parTransId="{4C1996A7-117A-0644-91F6-7ADC089D48D9}" sibTransId="{45486259-BC7F-7149-A51E-1B86E2F09AB3}"/>
    <dgm:cxn modelId="{10992FC8-31F6-ED4F-AC3D-28B131CF5F01}" type="presOf" srcId="{2D1E5308-6A7A-4745-81F0-328AF5FF0F00}" destId="{09D6E8DA-C37B-724F-A852-EBEE0BF949D2}" srcOrd="0" destOrd="0" presId="urn:microsoft.com/office/officeart/2008/layout/VerticalCurvedList"/>
    <dgm:cxn modelId="{20D224D9-6FF8-F741-A2A9-581356C8F2A8}" type="presOf" srcId="{E1435667-F89E-0145-BDE3-7F8037EC4987}" destId="{1FA3E873-BE94-BF40-9224-7FDB3E441A29}" srcOrd="0" destOrd="0" presId="urn:microsoft.com/office/officeart/2008/layout/VerticalCurvedList"/>
    <dgm:cxn modelId="{AD4751D8-5F71-7B4F-8F7A-10374131EF7F}" type="presParOf" srcId="{09D6E8DA-C37B-724F-A852-EBEE0BF949D2}" destId="{C778E129-720A-F940-835D-F010F8860AC7}" srcOrd="0" destOrd="0" presId="urn:microsoft.com/office/officeart/2008/layout/VerticalCurvedList"/>
    <dgm:cxn modelId="{450D77FE-4036-2547-A0DD-6C4137847D0C}" type="presParOf" srcId="{C778E129-720A-F940-835D-F010F8860AC7}" destId="{5E6D0F7B-FE8A-7145-B6C2-01118430C632}" srcOrd="0" destOrd="0" presId="urn:microsoft.com/office/officeart/2008/layout/VerticalCurvedList"/>
    <dgm:cxn modelId="{C7A5AFA4-58BE-0F44-A76F-4EFF7AAA4DD9}" type="presParOf" srcId="{5E6D0F7B-FE8A-7145-B6C2-01118430C632}" destId="{946BD381-B05C-DD43-A48E-9D02879F9E7C}" srcOrd="0" destOrd="0" presId="urn:microsoft.com/office/officeart/2008/layout/VerticalCurvedList"/>
    <dgm:cxn modelId="{238D8285-A76C-EC4F-91F1-1FD709D9138C}" type="presParOf" srcId="{5E6D0F7B-FE8A-7145-B6C2-01118430C632}" destId="{7648E883-F73E-B843-8BF5-763EA688F862}" srcOrd="1" destOrd="0" presId="urn:microsoft.com/office/officeart/2008/layout/VerticalCurvedList"/>
    <dgm:cxn modelId="{DCCE96FC-02A9-8B41-BCAF-E47348C70F05}" type="presParOf" srcId="{5E6D0F7B-FE8A-7145-B6C2-01118430C632}" destId="{25FD2987-969B-BD44-B581-2B632AB51FF6}" srcOrd="2" destOrd="0" presId="urn:microsoft.com/office/officeart/2008/layout/VerticalCurvedList"/>
    <dgm:cxn modelId="{4624284C-71EC-1A48-B4E9-797C35014188}" type="presParOf" srcId="{5E6D0F7B-FE8A-7145-B6C2-01118430C632}" destId="{6CD1077E-9C5A-924C-9041-6BA22A00C0CD}" srcOrd="3" destOrd="0" presId="urn:microsoft.com/office/officeart/2008/layout/VerticalCurvedList"/>
    <dgm:cxn modelId="{5A8B8D03-7A0C-974A-8FB0-9ED138D0BD1D}" type="presParOf" srcId="{C778E129-720A-F940-835D-F010F8860AC7}" destId="{9081A63F-0926-5149-8186-EFE76F2AF6EA}" srcOrd="1" destOrd="0" presId="urn:microsoft.com/office/officeart/2008/layout/VerticalCurvedList"/>
    <dgm:cxn modelId="{61CDF3DD-FEF5-1C41-BCF5-9645EAB3B34B}" type="presParOf" srcId="{C778E129-720A-F940-835D-F010F8860AC7}" destId="{48D8F49A-2ACE-CF4E-88E0-C3AF68CFF59F}" srcOrd="2" destOrd="0" presId="urn:microsoft.com/office/officeart/2008/layout/VerticalCurvedList"/>
    <dgm:cxn modelId="{D339913A-EFE3-B841-A2F9-59442BEA0CA4}" type="presParOf" srcId="{48D8F49A-2ACE-CF4E-88E0-C3AF68CFF59F}" destId="{BE8F7341-8AB9-124F-8A39-615235DA3F26}" srcOrd="0" destOrd="0" presId="urn:microsoft.com/office/officeart/2008/layout/VerticalCurvedList"/>
    <dgm:cxn modelId="{0E0A7FE6-9A25-4640-A4B4-E93556D900D1}" type="presParOf" srcId="{C778E129-720A-F940-835D-F010F8860AC7}" destId="{1FA3E873-BE94-BF40-9224-7FDB3E441A29}" srcOrd="3" destOrd="0" presId="urn:microsoft.com/office/officeart/2008/layout/VerticalCurvedList"/>
    <dgm:cxn modelId="{3B75E62E-72CF-B24E-A49F-03D34CC72211}" type="presParOf" srcId="{C778E129-720A-F940-835D-F010F8860AC7}" destId="{04CBF52F-64EF-474C-A149-4C99B7061E14}" srcOrd="4" destOrd="0" presId="urn:microsoft.com/office/officeart/2008/layout/VerticalCurvedList"/>
    <dgm:cxn modelId="{5AA808BD-02A5-D240-B2EF-DF39D036B1DE}" type="presParOf" srcId="{04CBF52F-64EF-474C-A149-4C99B7061E14}" destId="{19E63071-BBBF-E44F-86BF-732BE46F9703}" srcOrd="0" destOrd="0" presId="urn:microsoft.com/office/officeart/2008/layout/VerticalCurvedList"/>
    <dgm:cxn modelId="{0BFF3EC7-4573-9A46-ADE8-B18A1CB9F63E}" type="presParOf" srcId="{C778E129-720A-F940-835D-F010F8860AC7}" destId="{C03AAF67-2470-AD4D-A539-3972A35A13B8}" srcOrd="5" destOrd="0" presId="urn:microsoft.com/office/officeart/2008/layout/VerticalCurvedList"/>
    <dgm:cxn modelId="{163B713D-A5A9-514B-890F-0EE04527825B}" type="presParOf" srcId="{C778E129-720A-F940-835D-F010F8860AC7}" destId="{7AE75D0E-985E-1548-A086-311AB00C277D}" srcOrd="6" destOrd="0" presId="urn:microsoft.com/office/officeart/2008/layout/VerticalCurvedList"/>
    <dgm:cxn modelId="{906452E6-361F-1945-8F55-ED164112D3C5}" type="presParOf" srcId="{7AE75D0E-985E-1548-A086-311AB00C277D}" destId="{47FADF29-93E4-BE45-8B0C-4C1A00661A5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2991E8-ED5C-B54F-9E9D-85E535EAE2F3}" type="doc">
      <dgm:prSet loTypeId="urn:microsoft.com/office/officeart/2005/8/layout/chevro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9B6B61-FFCA-194D-B795-2E38474D13AB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en-US" dirty="0"/>
            <a:t>1</a:t>
          </a:r>
        </a:p>
      </dgm:t>
    </dgm:pt>
    <dgm:pt modelId="{E7754E77-9CB4-EB49-87EA-F09D5C997E9F}" type="parTrans" cxnId="{502789F7-9551-514A-82DA-6048785591AE}">
      <dgm:prSet/>
      <dgm:spPr/>
      <dgm:t>
        <a:bodyPr/>
        <a:lstStyle/>
        <a:p>
          <a:endParaRPr lang="en-US"/>
        </a:p>
      </dgm:t>
    </dgm:pt>
    <dgm:pt modelId="{81730B48-C863-774D-95FC-E681855531BA}" type="sibTrans" cxnId="{502789F7-9551-514A-82DA-6048785591AE}">
      <dgm:prSet/>
      <dgm:spPr/>
      <dgm:t>
        <a:bodyPr/>
        <a:lstStyle/>
        <a:p>
          <a:endParaRPr lang="en-US"/>
        </a:p>
      </dgm:t>
    </dgm:pt>
    <dgm:pt modelId="{CC2BE375-A4B7-814B-87B1-F6E5ED9AC42D}">
      <dgm:prSet phldrT="[Text]"/>
      <dgm:spPr>
        <a:solidFill>
          <a:srgbClr val="92D050">
            <a:alpha val="54217"/>
          </a:srgbClr>
        </a:solidFill>
      </dgm:spPr>
      <dgm:t>
        <a:bodyPr/>
        <a:lstStyle/>
        <a:p>
          <a:r>
            <a:rPr lang="en-US" dirty="0"/>
            <a:t>2</a:t>
          </a:r>
        </a:p>
      </dgm:t>
    </dgm:pt>
    <dgm:pt modelId="{B701D71E-1885-9441-87A6-CF58C0D51279}" type="parTrans" cxnId="{261FEAEA-8BBF-774A-826A-682FC7AC32DE}">
      <dgm:prSet/>
      <dgm:spPr/>
      <dgm:t>
        <a:bodyPr/>
        <a:lstStyle/>
        <a:p>
          <a:endParaRPr lang="en-US"/>
        </a:p>
      </dgm:t>
    </dgm:pt>
    <dgm:pt modelId="{AA339C42-66E5-5641-9B4E-A1886EB51135}" type="sibTrans" cxnId="{261FEAEA-8BBF-774A-826A-682FC7AC32DE}">
      <dgm:prSet/>
      <dgm:spPr/>
      <dgm:t>
        <a:bodyPr/>
        <a:lstStyle/>
        <a:p>
          <a:endParaRPr lang="en-US"/>
        </a:p>
      </dgm:t>
    </dgm:pt>
    <dgm:pt modelId="{4D3CDB69-64F3-3242-A9DE-D2CC54CF818A}">
      <dgm:prSet phldrT="[Text]"/>
      <dgm:spPr>
        <a:solidFill>
          <a:schemeClr val="tx2">
            <a:lumMod val="25000"/>
            <a:lumOff val="75000"/>
            <a:alpha val="50000"/>
          </a:schemeClr>
        </a:solidFill>
      </dgm:spPr>
      <dgm:t>
        <a:bodyPr/>
        <a:lstStyle/>
        <a:p>
          <a:r>
            <a:rPr lang="en-US" dirty="0"/>
            <a:t>3</a:t>
          </a:r>
        </a:p>
      </dgm:t>
    </dgm:pt>
    <dgm:pt modelId="{F1009CCD-0C10-4846-9BF2-5279917458C6}" type="parTrans" cxnId="{849A2071-A37F-B144-8424-6036178FEC4C}">
      <dgm:prSet/>
      <dgm:spPr/>
      <dgm:t>
        <a:bodyPr/>
        <a:lstStyle/>
        <a:p>
          <a:endParaRPr lang="en-US"/>
        </a:p>
      </dgm:t>
    </dgm:pt>
    <dgm:pt modelId="{1F212DB3-B7C2-9640-A6DF-A7A5E5517162}" type="sibTrans" cxnId="{849A2071-A37F-B144-8424-6036178FEC4C}">
      <dgm:prSet/>
      <dgm:spPr/>
      <dgm:t>
        <a:bodyPr/>
        <a:lstStyle/>
        <a:p>
          <a:endParaRPr lang="en-US"/>
        </a:p>
      </dgm:t>
    </dgm:pt>
    <dgm:pt modelId="{24168220-65B3-6C46-BCD0-9C8C1CE0F3CF}" type="pres">
      <dgm:prSet presAssocID="{B92991E8-ED5C-B54F-9E9D-85E535EAE2F3}" presName="linearFlow" presStyleCnt="0">
        <dgm:presLayoutVars>
          <dgm:dir/>
          <dgm:animLvl val="lvl"/>
          <dgm:resizeHandles val="exact"/>
        </dgm:presLayoutVars>
      </dgm:prSet>
      <dgm:spPr/>
    </dgm:pt>
    <dgm:pt modelId="{4FE7B743-F63B-A94A-B387-7CF5749C5C45}" type="pres">
      <dgm:prSet presAssocID="{EB9B6B61-FFCA-194D-B795-2E38474D13AB}" presName="composite" presStyleCnt="0"/>
      <dgm:spPr/>
    </dgm:pt>
    <dgm:pt modelId="{0A9D5D16-54D9-F54E-8316-D350A72061E3}" type="pres">
      <dgm:prSet presAssocID="{EB9B6B61-FFCA-194D-B795-2E38474D13A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1C89537-12FA-884A-ABF1-6B3CF59B0D9A}" type="pres">
      <dgm:prSet presAssocID="{EB9B6B61-FFCA-194D-B795-2E38474D13AB}" presName="descendantText" presStyleLbl="alignAcc1" presStyleIdx="0" presStyleCnt="3" custLinFactY="-49704" custLinFactNeighborX="-811" custLinFactNeighborY="-100000">
        <dgm:presLayoutVars>
          <dgm:bulletEnabled val="1"/>
        </dgm:presLayoutVars>
      </dgm:prSet>
      <dgm:spPr/>
    </dgm:pt>
    <dgm:pt modelId="{79238E9F-5A16-1D44-BA91-0AF96E0CFF2D}" type="pres">
      <dgm:prSet presAssocID="{81730B48-C863-774D-95FC-E681855531BA}" presName="sp" presStyleCnt="0"/>
      <dgm:spPr/>
    </dgm:pt>
    <dgm:pt modelId="{3A3DD296-B81D-1C47-9C74-00EFA574C20B}" type="pres">
      <dgm:prSet presAssocID="{CC2BE375-A4B7-814B-87B1-F6E5ED9AC42D}" presName="composite" presStyleCnt="0"/>
      <dgm:spPr/>
    </dgm:pt>
    <dgm:pt modelId="{1AECEBA5-732C-314A-8E28-DE9215890CA7}" type="pres">
      <dgm:prSet presAssocID="{CC2BE375-A4B7-814B-87B1-F6E5ED9AC42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E4D02F59-C289-C54A-AFA2-7E85E4D00530}" type="pres">
      <dgm:prSet presAssocID="{CC2BE375-A4B7-814B-87B1-F6E5ED9AC42D}" presName="descendantText" presStyleLbl="alignAcc1" presStyleIdx="1" presStyleCnt="3">
        <dgm:presLayoutVars>
          <dgm:bulletEnabled val="1"/>
        </dgm:presLayoutVars>
      </dgm:prSet>
      <dgm:spPr/>
    </dgm:pt>
    <dgm:pt modelId="{6106B198-0C49-094D-B784-CD8C358F1728}" type="pres">
      <dgm:prSet presAssocID="{AA339C42-66E5-5641-9B4E-A1886EB51135}" presName="sp" presStyleCnt="0"/>
      <dgm:spPr/>
    </dgm:pt>
    <dgm:pt modelId="{358B8730-6936-6A49-93DC-4CF5320A15E0}" type="pres">
      <dgm:prSet presAssocID="{4D3CDB69-64F3-3242-A9DE-D2CC54CF818A}" presName="composite" presStyleCnt="0"/>
      <dgm:spPr/>
    </dgm:pt>
    <dgm:pt modelId="{093AFEEB-6C76-3945-9E30-5FA64FE55E8B}" type="pres">
      <dgm:prSet presAssocID="{4D3CDB69-64F3-3242-A9DE-D2CC54CF818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DD35614-B7C8-5E49-9E49-A3865F233082}" type="pres">
      <dgm:prSet presAssocID="{4D3CDB69-64F3-3242-A9DE-D2CC54CF818A}" presName="descendantText" presStyleLbl="alignAcc1" presStyleIdx="2" presStyleCnt="3" custLinFactNeighborX="2562" custLinFactNeighborY="1154">
        <dgm:presLayoutVars>
          <dgm:bulletEnabled val="1"/>
        </dgm:presLayoutVars>
      </dgm:prSet>
      <dgm:spPr/>
    </dgm:pt>
  </dgm:ptLst>
  <dgm:cxnLst>
    <dgm:cxn modelId="{DBACCC10-DEA9-374F-9404-CE089626AA08}" type="presOf" srcId="{B92991E8-ED5C-B54F-9E9D-85E535EAE2F3}" destId="{24168220-65B3-6C46-BCD0-9C8C1CE0F3CF}" srcOrd="0" destOrd="0" presId="urn:microsoft.com/office/officeart/2005/8/layout/chevron2"/>
    <dgm:cxn modelId="{17858452-FC8B-134D-B38D-A0171DDD070C}" type="presOf" srcId="{4D3CDB69-64F3-3242-A9DE-D2CC54CF818A}" destId="{093AFEEB-6C76-3945-9E30-5FA64FE55E8B}" srcOrd="0" destOrd="0" presId="urn:microsoft.com/office/officeart/2005/8/layout/chevron2"/>
    <dgm:cxn modelId="{849A2071-A37F-B144-8424-6036178FEC4C}" srcId="{B92991E8-ED5C-B54F-9E9D-85E535EAE2F3}" destId="{4D3CDB69-64F3-3242-A9DE-D2CC54CF818A}" srcOrd="2" destOrd="0" parTransId="{F1009CCD-0C10-4846-9BF2-5279917458C6}" sibTransId="{1F212DB3-B7C2-9640-A6DF-A7A5E5517162}"/>
    <dgm:cxn modelId="{F7B474BB-CD2B-264C-9D93-4B5BFA381C9D}" type="presOf" srcId="{EB9B6B61-FFCA-194D-B795-2E38474D13AB}" destId="{0A9D5D16-54D9-F54E-8316-D350A72061E3}" srcOrd="0" destOrd="0" presId="urn:microsoft.com/office/officeart/2005/8/layout/chevron2"/>
    <dgm:cxn modelId="{545214C6-857C-8F4E-B291-C9EB035867B5}" type="presOf" srcId="{CC2BE375-A4B7-814B-87B1-F6E5ED9AC42D}" destId="{1AECEBA5-732C-314A-8E28-DE9215890CA7}" srcOrd="0" destOrd="0" presId="urn:microsoft.com/office/officeart/2005/8/layout/chevron2"/>
    <dgm:cxn modelId="{261FEAEA-8BBF-774A-826A-682FC7AC32DE}" srcId="{B92991E8-ED5C-B54F-9E9D-85E535EAE2F3}" destId="{CC2BE375-A4B7-814B-87B1-F6E5ED9AC42D}" srcOrd="1" destOrd="0" parTransId="{B701D71E-1885-9441-87A6-CF58C0D51279}" sibTransId="{AA339C42-66E5-5641-9B4E-A1886EB51135}"/>
    <dgm:cxn modelId="{502789F7-9551-514A-82DA-6048785591AE}" srcId="{B92991E8-ED5C-B54F-9E9D-85E535EAE2F3}" destId="{EB9B6B61-FFCA-194D-B795-2E38474D13AB}" srcOrd="0" destOrd="0" parTransId="{E7754E77-9CB4-EB49-87EA-F09D5C997E9F}" sibTransId="{81730B48-C863-774D-95FC-E681855531BA}"/>
    <dgm:cxn modelId="{27FD0D1E-9E25-DB46-BE91-EABA98C50BAE}" type="presParOf" srcId="{24168220-65B3-6C46-BCD0-9C8C1CE0F3CF}" destId="{4FE7B743-F63B-A94A-B387-7CF5749C5C45}" srcOrd="0" destOrd="0" presId="urn:microsoft.com/office/officeart/2005/8/layout/chevron2"/>
    <dgm:cxn modelId="{681540A7-C2B0-2F42-95AF-EC6398BAA6BF}" type="presParOf" srcId="{4FE7B743-F63B-A94A-B387-7CF5749C5C45}" destId="{0A9D5D16-54D9-F54E-8316-D350A72061E3}" srcOrd="0" destOrd="0" presId="urn:microsoft.com/office/officeart/2005/8/layout/chevron2"/>
    <dgm:cxn modelId="{C28BCC5A-C1EC-4D46-B337-04983DC68ECE}" type="presParOf" srcId="{4FE7B743-F63B-A94A-B387-7CF5749C5C45}" destId="{71C89537-12FA-884A-ABF1-6B3CF59B0D9A}" srcOrd="1" destOrd="0" presId="urn:microsoft.com/office/officeart/2005/8/layout/chevron2"/>
    <dgm:cxn modelId="{408C0D8B-7108-5048-9D36-5A3122F94084}" type="presParOf" srcId="{24168220-65B3-6C46-BCD0-9C8C1CE0F3CF}" destId="{79238E9F-5A16-1D44-BA91-0AF96E0CFF2D}" srcOrd="1" destOrd="0" presId="urn:microsoft.com/office/officeart/2005/8/layout/chevron2"/>
    <dgm:cxn modelId="{3D230ADC-3A58-4444-9F3C-67398D06109F}" type="presParOf" srcId="{24168220-65B3-6C46-BCD0-9C8C1CE0F3CF}" destId="{3A3DD296-B81D-1C47-9C74-00EFA574C20B}" srcOrd="2" destOrd="0" presId="urn:microsoft.com/office/officeart/2005/8/layout/chevron2"/>
    <dgm:cxn modelId="{EF25DD86-13FD-C04E-9572-13E174248A05}" type="presParOf" srcId="{3A3DD296-B81D-1C47-9C74-00EFA574C20B}" destId="{1AECEBA5-732C-314A-8E28-DE9215890CA7}" srcOrd="0" destOrd="0" presId="urn:microsoft.com/office/officeart/2005/8/layout/chevron2"/>
    <dgm:cxn modelId="{1C3A73FD-D130-FC4A-A73E-1C794AB9E05B}" type="presParOf" srcId="{3A3DD296-B81D-1C47-9C74-00EFA574C20B}" destId="{E4D02F59-C289-C54A-AFA2-7E85E4D00530}" srcOrd="1" destOrd="0" presId="urn:microsoft.com/office/officeart/2005/8/layout/chevron2"/>
    <dgm:cxn modelId="{063E3476-2F1F-564A-A18C-C7232491A0BB}" type="presParOf" srcId="{24168220-65B3-6C46-BCD0-9C8C1CE0F3CF}" destId="{6106B198-0C49-094D-B784-CD8C358F1728}" srcOrd="3" destOrd="0" presId="urn:microsoft.com/office/officeart/2005/8/layout/chevron2"/>
    <dgm:cxn modelId="{AE88C5AF-6E0B-4841-AA33-80A198E0011F}" type="presParOf" srcId="{24168220-65B3-6C46-BCD0-9C8C1CE0F3CF}" destId="{358B8730-6936-6A49-93DC-4CF5320A15E0}" srcOrd="4" destOrd="0" presId="urn:microsoft.com/office/officeart/2005/8/layout/chevron2"/>
    <dgm:cxn modelId="{46A27BD5-30DE-1A4C-BFE3-3F8BA99515B5}" type="presParOf" srcId="{358B8730-6936-6A49-93DC-4CF5320A15E0}" destId="{093AFEEB-6C76-3945-9E30-5FA64FE55E8B}" srcOrd="0" destOrd="0" presId="urn:microsoft.com/office/officeart/2005/8/layout/chevron2"/>
    <dgm:cxn modelId="{98B74914-187A-4649-AC79-F25D4B7F02D0}" type="presParOf" srcId="{358B8730-6936-6A49-93DC-4CF5320A15E0}" destId="{BDD35614-B7C8-5E49-9E49-A3865F23308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5D92A6-729F-F946-8EA5-A443B6293E34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969A5D-8140-C045-8358-5BE4384CD891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US" dirty="0"/>
            <a:t>Basic Definition</a:t>
          </a:r>
        </a:p>
      </dgm:t>
    </dgm:pt>
    <dgm:pt modelId="{49FD1D0F-30BB-0B46-A4CF-80FA68778B47}" type="parTrans" cxnId="{7704E348-09A5-F04A-BB2A-8F880115F208}">
      <dgm:prSet/>
      <dgm:spPr/>
      <dgm:t>
        <a:bodyPr/>
        <a:lstStyle/>
        <a:p>
          <a:endParaRPr lang="en-US"/>
        </a:p>
      </dgm:t>
    </dgm:pt>
    <dgm:pt modelId="{B637D9CA-EF17-714C-9C2C-0B11380FC93F}" type="sibTrans" cxnId="{7704E348-09A5-F04A-BB2A-8F880115F208}">
      <dgm:prSet/>
      <dgm:spPr/>
      <dgm:t>
        <a:bodyPr/>
        <a:lstStyle/>
        <a:p>
          <a:endParaRPr lang="en-US"/>
        </a:p>
      </dgm:t>
    </dgm:pt>
    <dgm:pt modelId="{401609B5-8727-6046-877E-90E3E19138FA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en-US" dirty="0"/>
            <a:t>Compact Form</a:t>
          </a:r>
        </a:p>
      </dgm:t>
    </dgm:pt>
    <dgm:pt modelId="{51722DA8-0A1B-4342-8CD9-C4D57D4F989B}" type="parTrans" cxnId="{8D13B17F-0154-3943-8C4E-5B6A001E179A}">
      <dgm:prSet/>
      <dgm:spPr/>
      <dgm:t>
        <a:bodyPr/>
        <a:lstStyle/>
        <a:p>
          <a:endParaRPr lang="en-US"/>
        </a:p>
      </dgm:t>
    </dgm:pt>
    <dgm:pt modelId="{82DF5E7C-20B3-3745-9599-5C5413D74BAF}" type="sibTrans" cxnId="{8D13B17F-0154-3943-8C4E-5B6A001E179A}">
      <dgm:prSet/>
      <dgm:spPr/>
      <dgm:t>
        <a:bodyPr/>
        <a:lstStyle/>
        <a:p>
          <a:endParaRPr lang="en-US"/>
        </a:p>
      </dgm:t>
    </dgm:pt>
    <dgm:pt modelId="{9EE2D1BA-BAE0-FB48-943B-918BA26322B8}">
      <dgm:prSet phldrT="[Text]"/>
      <dgm:spPr>
        <a:solidFill>
          <a:schemeClr val="tx2">
            <a:lumMod val="25000"/>
            <a:lumOff val="75000"/>
            <a:alpha val="50000"/>
          </a:schemeClr>
        </a:solidFill>
      </dgm:spPr>
      <dgm:t>
        <a:bodyPr/>
        <a:lstStyle/>
        <a:p>
          <a:r>
            <a:rPr lang="en-US" dirty="0"/>
            <a:t>Penalties</a:t>
          </a:r>
        </a:p>
      </dgm:t>
    </dgm:pt>
    <dgm:pt modelId="{013F8869-DBFF-E94D-85F5-0484AD5C434B}" type="parTrans" cxnId="{9B259DBB-953C-DA43-B950-2A6ADA17320B}">
      <dgm:prSet/>
      <dgm:spPr/>
      <dgm:t>
        <a:bodyPr/>
        <a:lstStyle/>
        <a:p>
          <a:endParaRPr lang="en-US"/>
        </a:p>
      </dgm:t>
    </dgm:pt>
    <dgm:pt modelId="{5F83AACB-C647-6748-B54F-11B329B93C74}" type="sibTrans" cxnId="{9B259DBB-953C-DA43-B950-2A6ADA17320B}">
      <dgm:prSet/>
      <dgm:spPr/>
      <dgm:t>
        <a:bodyPr/>
        <a:lstStyle/>
        <a:p>
          <a:endParaRPr lang="en-US"/>
        </a:p>
      </dgm:t>
    </dgm:pt>
    <dgm:pt modelId="{B1DBB6BC-C0DA-5B42-A82A-1CD05A73695B}" type="pres">
      <dgm:prSet presAssocID="{2A5D92A6-729F-F946-8EA5-A443B6293E34}" presName="Name0" presStyleCnt="0">
        <dgm:presLayoutVars>
          <dgm:chMax val="7"/>
          <dgm:chPref val="7"/>
          <dgm:dir/>
        </dgm:presLayoutVars>
      </dgm:prSet>
      <dgm:spPr/>
    </dgm:pt>
    <dgm:pt modelId="{0CBD2342-A7A1-3347-9795-1FF457769341}" type="pres">
      <dgm:prSet presAssocID="{2A5D92A6-729F-F946-8EA5-A443B6293E34}" presName="Name1" presStyleCnt="0"/>
      <dgm:spPr/>
    </dgm:pt>
    <dgm:pt modelId="{BB11E305-7588-364A-B671-F7C297AAB6C2}" type="pres">
      <dgm:prSet presAssocID="{2A5D92A6-729F-F946-8EA5-A443B6293E34}" presName="cycle" presStyleCnt="0"/>
      <dgm:spPr/>
    </dgm:pt>
    <dgm:pt modelId="{DD4FDEB7-DD43-3742-AD9C-5659DE7C152B}" type="pres">
      <dgm:prSet presAssocID="{2A5D92A6-729F-F946-8EA5-A443B6293E34}" presName="srcNode" presStyleLbl="node1" presStyleIdx="0" presStyleCnt="3"/>
      <dgm:spPr/>
    </dgm:pt>
    <dgm:pt modelId="{38FEC79F-542B-674A-8361-BD86BA71ADD1}" type="pres">
      <dgm:prSet presAssocID="{2A5D92A6-729F-F946-8EA5-A443B6293E34}" presName="conn" presStyleLbl="parChTrans1D2" presStyleIdx="0" presStyleCnt="1"/>
      <dgm:spPr/>
    </dgm:pt>
    <dgm:pt modelId="{300659C2-B4D9-3E4E-B3F5-E9E5F74643B8}" type="pres">
      <dgm:prSet presAssocID="{2A5D92A6-729F-F946-8EA5-A443B6293E34}" presName="extraNode" presStyleLbl="node1" presStyleIdx="0" presStyleCnt="3"/>
      <dgm:spPr/>
    </dgm:pt>
    <dgm:pt modelId="{123A9EC6-5770-E043-A053-24486CC0F462}" type="pres">
      <dgm:prSet presAssocID="{2A5D92A6-729F-F946-8EA5-A443B6293E34}" presName="dstNode" presStyleLbl="node1" presStyleIdx="0" presStyleCnt="3"/>
      <dgm:spPr/>
    </dgm:pt>
    <dgm:pt modelId="{B15A6EA6-8023-BD42-A823-3ADE796F8DC8}" type="pres">
      <dgm:prSet presAssocID="{B5969A5D-8140-C045-8358-5BE4384CD891}" presName="text_1" presStyleLbl="node1" presStyleIdx="0" presStyleCnt="3" custLinFactNeighborX="-380" custLinFactNeighborY="1002">
        <dgm:presLayoutVars>
          <dgm:bulletEnabled val="1"/>
        </dgm:presLayoutVars>
      </dgm:prSet>
      <dgm:spPr/>
    </dgm:pt>
    <dgm:pt modelId="{74CF9A83-A90F-B542-A504-BE69E4CB9DF7}" type="pres">
      <dgm:prSet presAssocID="{B5969A5D-8140-C045-8358-5BE4384CD891}" presName="accent_1" presStyleCnt="0"/>
      <dgm:spPr/>
    </dgm:pt>
    <dgm:pt modelId="{42D9B5CB-F114-B643-9972-5F07851D84FB}" type="pres">
      <dgm:prSet presAssocID="{B5969A5D-8140-C045-8358-5BE4384CD891}" presName="accentRepeatNode" presStyleLbl="solidFgAcc1" presStyleIdx="0" presStyleCnt="3"/>
      <dgm:spPr>
        <a:solidFill>
          <a:srgbClr val="FF0000"/>
        </a:solidFill>
      </dgm:spPr>
    </dgm:pt>
    <dgm:pt modelId="{36C1E06D-AA14-3649-96BD-44D0016CCE7A}" type="pres">
      <dgm:prSet presAssocID="{401609B5-8727-6046-877E-90E3E19138FA}" presName="text_2" presStyleLbl="node1" presStyleIdx="1" presStyleCnt="3">
        <dgm:presLayoutVars>
          <dgm:bulletEnabled val="1"/>
        </dgm:presLayoutVars>
      </dgm:prSet>
      <dgm:spPr/>
    </dgm:pt>
    <dgm:pt modelId="{FB69A320-97CD-FF4D-805B-B6C0BF57C593}" type="pres">
      <dgm:prSet presAssocID="{401609B5-8727-6046-877E-90E3E19138FA}" presName="accent_2" presStyleCnt="0"/>
      <dgm:spPr/>
    </dgm:pt>
    <dgm:pt modelId="{641CC899-0306-C34C-B2C5-FF29CEEB66B2}" type="pres">
      <dgm:prSet presAssocID="{401609B5-8727-6046-877E-90E3E19138FA}" presName="accentRepeatNode" presStyleLbl="solidFgAcc1" presStyleIdx="1" presStyleCnt="3"/>
      <dgm:spPr>
        <a:solidFill>
          <a:srgbClr val="FFC000"/>
        </a:solidFill>
      </dgm:spPr>
    </dgm:pt>
    <dgm:pt modelId="{9C7A4C87-AE54-4644-9B02-990D0D1C30A0}" type="pres">
      <dgm:prSet presAssocID="{9EE2D1BA-BAE0-FB48-943B-918BA26322B8}" presName="text_3" presStyleLbl="node1" presStyleIdx="2" presStyleCnt="3">
        <dgm:presLayoutVars>
          <dgm:bulletEnabled val="1"/>
        </dgm:presLayoutVars>
      </dgm:prSet>
      <dgm:spPr/>
    </dgm:pt>
    <dgm:pt modelId="{2C233932-3EAC-E645-9B8C-7AD267A5815D}" type="pres">
      <dgm:prSet presAssocID="{9EE2D1BA-BAE0-FB48-943B-918BA26322B8}" presName="accent_3" presStyleCnt="0"/>
      <dgm:spPr/>
    </dgm:pt>
    <dgm:pt modelId="{370D218E-D3E4-2E45-A4CD-BC53E9C597ED}" type="pres">
      <dgm:prSet presAssocID="{9EE2D1BA-BAE0-FB48-943B-918BA26322B8}" presName="accentRepeatNode" presStyleLbl="solidFgAcc1" presStyleIdx="2" presStyleCnt="3"/>
      <dgm:spPr>
        <a:solidFill>
          <a:schemeClr val="tx2">
            <a:lumMod val="25000"/>
            <a:lumOff val="75000"/>
          </a:schemeClr>
        </a:solidFill>
      </dgm:spPr>
    </dgm:pt>
  </dgm:ptLst>
  <dgm:cxnLst>
    <dgm:cxn modelId="{3CD64A28-80C3-D04C-BF8F-463B7B662F30}" type="presOf" srcId="{B637D9CA-EF17-714C-9C2C-0B11380FC93F}" destId="{38FEC79F-542B-674A-8361-BD86BA71ADD1}" srcOrd="0" destOrd="0" presId="urn:microsoft.com/office/officeart/2008/layout/VerticalCurvedList"/>
    <dgm:cxn modelId="{7704E348-09A5-F04A-BB2A-8F880115F208}" srcId="{2A5D92A6-729F-F946-8EA5-A443B6293E34}" destId="{B5969A5D-8140-C045-8358-5BE4384CD891}" srcOrd="0" destOrd="0" parTransId="{49FD1D0F-30BB-0B46-A4CF-80FA68778B47}" sibTransId="{B637D9CA-EF17-714C-9C2C-0B11380FC93F}"/>
    <dgm:cxn modelId="{8D13B17F-0154-3943-8C4E-5B6A001E179A}" srcId="{2A5D92A6-729F-F946-8EA5-A443B6293E34}" destId="{401609B5-8727-6046-877E-90E3E19138FA}" srcOrd="1" destOrd="0" parTransId="{51722DA8-0A1B-4342-8CD9-C4D57D4F989B}" sibTransId="{82DF5E7C-20B3-3745-9599-5C5413D74BAF}"/>
    <dgm:cxn modelId="{F008AAB1-1CE1-CB40-9B76-1019792BBFC2}" type="presOf" srcId="{401609B5-8727-6046-877E-90E3E19138FA}" destId="{36C1E06D-AA14-3649-96BD-44D0016CCE7A}" srcOrd="0" destOrd="0" presId="urn:microsoft.com/office/officeart/2008/layout/VerticalCurvedList"/>
    <dgm:cxn modelId="{9B259DBB-953C-DA43-B950-2A6ADA17320B}" srcId="{2A5D92A6-729F-F946-8EA5-A443B6293E34}" destId="{9EE2D1BA-BAE0-FB48-943B-918BA26322B8}" srcOrd="2" destOrd="0" parTransId="{013F8869-DBFF-E94D-85F5-0484AD5C434B}" sibTransId="{5F83AACB-C647-6748-B54F-11B329B93C74}"/>
    <dgm:cxn modelId="{14BFB6C4-90DD-6A4A-9896-FB9A2338346D}" type="presOf" srcId="{B5969A5D-8140-C045-8358-5BE4384CD891}" destId="{B15A6EA6-8023-BD42-A823-3ADE796F8DC8}" srcOrd="0" destOrd="0" presId="urn:microsoft.com/office/officeart/2008/layout/VerticalCurvedList"/>
    <dgm:cxn modelId="{F7782FD5-9CC9-AD45-97B0-9AC403B1DA65}" type="presOf" srcId="{2A5D92A6-729F-F946-8EA5-A443B6293E34}" destId="{B1DBB6BC-C0DA-5B42-A82A-1CD05A73695B}" srcOrd="0" destOrd="0" presId="urn:microsoft.com/office/officeart/2008/layout/VerticalCurvedList"/>
    <dgm:cxn modelId="{30CB7DD9-6BA2-D84C-A5C9-9F83E162B88E}" type="presOf" srcId="{9EE2D1BA-BAE0-FB48-943B-918BA26322B8}" destId="{9C7A4C87-AE54-4644-9B02-990D0D1C30A0}" srcOrd="0" destOrd="0" presId="urn:microsoft.com/office/officeart/2008/layout/VerticalCurvedList"/>
    <dgm:cxn modelId="{EEBD1F77-B065-EE44-A239-FD416432CCAD}" type="presParOf" srcId="{B1DBB6BC-C0DA-5B42-A82A-1CD05A73695B}" destId="{0CBD2342-A7A1-3347-9795-1FF457769341}" srcOrd="0" destOrd="0" presId="urn:microsoft.com/office/officeart/2008/layout/VerticalCurvedList"/>
    <dgm:cxn modelId="{C517D0C1-79A4-BC48-9867-4425AC566070}" type="presParOf" srcId="{0CBD2342-A7A1-3347-9795-1FF457769341}" destId="{BB11E305-7588-364A-B671-F7C297AAB6C2}" srcOrd="0" destOrd="0" presId="urn:microsoft.com/office/officeart/2008/layout/VerticalCurvedList"/>
    <dgm:cxn modelId="{B477135D-D26C-C74D-919E-DE167541C15E}" type="presParOf" srcId="{BB11E305-7588-364A-B671-F7C297AAB6C2}" destId="{DD4FDEB7-DD43-3742-AD9C-5659DE7C152B}" srcOrd="0" destOrd="0" presId="urn:microsoft.com/office/officeart/2008/layout/VerticalCurvedList"/>
    <dgm:cxn modelId="{58DDBA19-E2A0-4D44-BC85-5207088CDA63}" type="presParOf" srcId="{BB11E305-7588-364A-B671-F7C297AAB6C2}" destId="{38FEC79F-542B-674A-8361-BD86BA71ADD1}" srcOrd="1" destOrd="0" presId="urn:microsoft.com/office/officeart/2008/layout/VerticalCurvedList"/>
    <dgm:cxn modelId="{ED81F6C3-EB82-D145-8676-EF4657F20F18}" type="presParOf" srcId="{BB11E305-7588-364A-B671-F7C297AAB6C2}" destId="{300659C2-B4D9-3E4E-B3F5-E9E5F74643B8}" srcOrd="2" destOrd="0" presId="urn:microsoft.com/office/officeart/2008/layout/VerticalCurvedList"/>
    <dgm:cxn modelId="{CA025B6C-C61A-4E47-876F-5FEBB292EC8D}" type="presParOf" srcId="{BB11E305-7588-364A-B671-F7C297AAB6C2}" destId="{123A9EC6-5770-E043-A053-24486CC0F462}" srcOrd="3" destOrd="0" presId="urn:microsoft.com/office/officeart/2008/layout/VerticalCurvedList"/>
    <dgm:cxn modelId="{E32DBAD0-4357-B842-B7F9-5A3E4BBBCA07}" type="presParOf" srcId="{0CBD2342-A7A1-3347-9795-1FF457769341}" destId="{B15A6EA6-8023-BD42-A823-3ADE796F8DC8}" srcOrd="1" destOrd="0" presId="urn:microsoft.com/office/officeart/2008/layout/VerticalCurvedList"/>
    <dgm:cxn modelId="{17BB837E-AAA8-604A-B956-E57080951FAA}" type="presParOf" srcId="{0CBD2342-A7A1-3347-9795-1FF457769341}" destId="{74CF9A83-A90F-B542-A504-BE69E4CB9DF7}" srcOrd="2" destOrd="0" presId="urn:microsoft.com/office/officeart/2008/layout/VerticalCurvedList"/>
    <dgm:cxn modelId="{F03C639B-27DE-B440-A10A-F6539ABE85B0}" type="presParOf" srcId="{74CF9A83-A90F-B542-A504-BE69E4CB9DF7}" destId="{42D9B5CB-F114-B643-9972-5F07851D84FB}" srcOrd="0" destOrd="0" presId="urn:microsoft.com/office/officeart/2008/layout/VerticalCurvedList"/>
    <dgm:cxn modelId="{9E81D11C-8462-7344-9EAF-23093675161C}" type="presParOf" srcId="{0CBD2342-A7A1-3347-9795-1FF457769341}" destId="{36C1E06D-AA14-3649-96BD-44D0016CCE7A}" srcOrd="3" destOrd="0" presId="urn:microsoft.com/office/officeart/2008/layout/VerticalCurvedList"/>
    <dgm:cxn modelId="{5C8AF7EF-162B-7546-BE88-AFC496ED5CF0}" type="presParOf" srcId="{0CBD2342-A7A1-3347-9795-1FF457769341}" destId="{FB69A320-97CD-FF4D-805B-B6C0BF57C593}" srcOrd="4" destOrd="0" presId="urn:microsoft.com/office/officeart/2008/layout/VerticalCurvedList"/>
    <dgm:cxn modelId="{12623D40-1CB0-C34C-B864-EB9C1CAF91A0}" type="presParOf" srcId="{FB69A320-97CD-FF4D-805B-B6C0BF57C593}" destId="{641CC899-0306-C34C-B2C5-FF29CEEB66B2}" srcOrd="0" destOrd="0" presId="urn:microsoft.com/office/officeart/2008/layout/VerticalCurvedList"/>
    <dgm:cxn modelId="{9940E990-8C2F-B642-A123-32077160B446}" type="presParOf" srcId="{0CBD2342-A7A1-3347-9795-1FF457769341}" destId="{9C7A4C87-AE54-4644-9B02-990D0D1C30A0}" srcOrd="5" destOrd="0" presId="urn:microsoft.com/office/officeart/2008/layout/VerticalCurvedList"/>
    <dgm:cxn modelId="{A94511F4-61F2-6143-A44F-6A9E02BD71CE}" type="presParOf" srcId="{0CBD2342-A7A1-3347-9795-1FF457769341}" destId="{2C233932-3EAC-E645-9B8C-7AD267A5815D}" srcOrd="6" destOrd="0" presId="urn:microsoft.com/office/officeart/2008/layout/VerticalCurvedList"/>
    <dgm:cxn modelId="{72A98DEC-6BBC-7E4F-BE15-94D2E3894B42}" type="presParOf" srcId="{2C233932-3EAC-E645-9B8C-7AD267A5815D}" destId="{370D218E-D3E4-2E45-A4CD-BC53E9C597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A57BEA-E954-CC42-B164-E5DC16CA5A45}" type="doc">
      <dgm:prSet loTypeId="urn:microsoft.com/office/officeart/2009/3/layout/OpposingIdea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3DCD04-5E65-954A-8BD9-E335059F8260}">
      <dgm:prSet phldrT="[Text]" custT="1"/>
      <dgm:spPr/>
      <dgm:t>
        <a:bodyPr/>
        <a:lstStyle/>
        <a:p>
          <a:r>
            <a:rPr lang="en-US" sz="2500" dirty="0">
              <a:solidFill>
                <a:schemeClr val="bg1"/>
              </a:solidFill>
              <a:latin typeface="Adelle Sans Devanagari" panose="02000503000000020004" pitchFamily="2" charset="-78"/>
              <a:cs typeface="Adelle Sans Devanagari" panose="02000503000000020004" pitchFamily="2" charset="-78"/>
            </a:rPr>
            <a:t>Significance Level</a:t>
          </a:r>
        </a:p>
      </dgm:t>
    </dgm:pt>
    <dgm:pt modelId="{3E6387DA-D25E-6447-B21E-B1218B789B73}" type="sibTrans" cxnId="{03A426F1-6DD0-8F46-B88E-EBC986F9C04A}">
      <dgm:prSet/>
      <dgm:spPr/>
      <dgm:t>
        <a:bodyPr/>
        <a:lstStyle/>
        <a:p>
          <a:endParaRPr lang="en-US"/>
        </a:p>
      </dgm:t>
    </dgm:pt>
    <dgm:pt modelId="{A37D27A6-B5A2-7B4D-A455-B27CE0A842E4}" type="parTrans" cxnId="{03A426F1-6DD0-8F46-B88E-EBC986F9C04A}">
      <dgm:prSet/>
      <dgm:spPr/>
      <dgm:t>
        <a:bodyPr/>
        <a:lstStyle/>
        <a:p>
          <a:endParaRPr lang="en-US"/>
        </a:p>
      </dgm:t>
    </dgm:pt>
    <dgm:pt modelId="{F89AF2D5-9CF6-8945-A122-CDA413EC2F98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500" dirty="0">
              <a:solidFill>
                <a:srgbClr val="92D050"/>
              </a:solidFill>
            </a:rPr>
            <a:t>0.3025  (30.25%)</a:t>
          </a:r>
        </a:p>
      </dgm:t>
    </dgm:pt>
    <dgm:pt modelId="{8937E95E-592D-6E4F-A80D-90081EEA1BE2}" type="sibTrans" cxnId="{70CDEDB7-4206-7845-AE87-A728FE11D4C1}">
      <dgm:prSet/>
      <dgm:spPr/>
      <dgm:t>
        <a:bodyPr/>
        <a:lstStyle/>
        <a:p>
          <a:endParaRPr lang="en-US"/>
        </a:p>
      </dgm:t>
    </dgm:pt>
    <dgm:pt modelId="{C96ABBC6-C00C-CB46-82EC-902EE53C0872}" type="parTrans" cxnId="{70CDEDB7-4206-7845-AE87-A728FE11D4C1}">
      <dgm:prSet/>
      <dgm:spPr/>
      <dgm:t>
        <a:bodyPr/>
        <a:lstStyle/>
        <a:p>
          <a:endParaRPr lang="en-US"/>
        </a:p>
      </dgm:t>
    </dgm:pt>
    <dgm:pt modelId="{AC79029E-3808-F24A-8613-81A121308CC3}">
      <dgm:prSet phldrT="[Text]" custT="1"/>
      <dgm:spPr/>
      <dgm:t>
        <a:bodyPr/>
        <a:lstStyle/>
        <a:p>
          <a:r>
            <a:rPr lang="en-US" sz="2500" dirty="0">
              <a:solidFill>
                <a:schemeClr val="bg1"/>
              </a:solidFill>
              <a:latin typeface="Adelle Sans Devanagari" panose="02000503000000020004" pitchFamily="2" charset="-78"/>
              <a:cs typeface="Adelle Sans Devanagari" panose="02000503000000020004" pitchFamily="2" charset="-78"/>
            </a:rPr>
            <a:t>P-Value</a:t>
          </a:r>
        </a:p>
      </dgm:t>
    </dgm:pt>
    <dgm:pt modelId="{7F59921A-409B-394D-AC32-5B924F8339F6}" type="sibTrans" cxnId="{2415DD5D-20DF-E342-914B-E77893D49E39}">
      <dgm:prSet/>
      <dgm:spPr/>
      <dgm:t>
        <a:bodyPr/>
        <a:lstStyle/>
        <a:p>
          <a:endParaRPr lang="en-US"/>
        </a:p>
      </dgm:t>
    </dgm:pt>
    <dgm:pt modelId="{A29557B5-13DF-BA48-88BF-6B9DB35F30AB}" type="parTrans" cxnId="{2415DD5D-20DF-E342-914B-E77893D49E39}">
      <dgm:prSet/>
      <dgm:spPr/>
      <dgm:t>
        <a:bodyPr/>
        <a:lstStyle/>
        <a:p>
          <a:endParaRPr lang="en-US"/>
        </a:p>
      </dgm:t>
    </dgm:pt>
    <dgm:pt modelId="{FDF37A6E-16B6-2F4D-A0F2-FFF0AEB67409}">
      <dgm:prSet phldrT="[Text]"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sz="2500" dirty="0">
              <a:solidFill>
                <a:schemeClr val="accent2"/>
              </a:solidFill>
            </a:rPr>
            <a:t>0.05  (5%)</a:t>
          </a:r>
        </a:p>
      </dgm:t>
    </dgm:pt>
    <dgm:pt modelId="{37E1048C-03FF-5746-A808-23A50BFBBCF5}" type="sibTrans" cxnId="{E03C6B52-9CCD-5D41-98D6-ABBAFAC737CD}">
      <dgm:prSet/>
      <dgm:spPr/>
      <dgm:t>
        <a:bodyPr/>
        <a:lstStyle/>
        <a:p>
          <a:endParaRPr lang="en-US"/>
        </a:p>
      </dgm:t>
    </dgm:pt>
    <dgm:pt modelId="{A8F78719-EAEC-2348-BC78-D9EED88B632B}" type="parTrans" cxnId="{E03C6B52-9CCD-5D41-98D6-ABBAFAC737CD}">
      <dgm:prSet/>
      <dgm:spPr/>
      <dgm:t>
        <a:bodyPr/>
        <a:lstStyle/>
        <a:p>
          <a:endParaRPr lang="en-US"/>
        </a:p>
      </dgm:t>
    </dgm:pt>
    <dgm:pt modelId="{2F493B63-C6BA-5042-BF5D-14547412DEC5}" type="pres">
      <dgm:prSet presAssocID="{BEA57BEA-E954-CC42-B164-E5DC16CA5A45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9660E105-AA21-4943-BE89-A120A9BF33D5}" type="pres">
      <dgm:prSet presAssocID="{BEA57BEA-E954-CC42-B164-E5DC16CA5A45}" presName="Background" presStyleLbl="node1" presStyleIdx="0" presStyleCnt="1" custScaleX="107034" custScaleY="100754" custLinFactNeighborX="841" custLinFactNeighborY="-203"/>
      <dgm:spPr>
        <a:solidFill>
          <a:schemeClr val="bg1">
            <a:lumMod val="50000"/>
          </a:schemeClr>
        </a:solidFill>
      </dgm:spPr>
    </dgm:pt>
    <dgm:pt modelId="{123545A3-D308-B742-ACFF-34CDF6739BFF}" type="pres">
      <dgm:prSet presAssocID="{BEA57BEA-E954-CC42-B164-E5DC16CA5A45}" presName="Divider" presStyleLbl="callout" presStyleIdx="0" presStyleCnt="1" custLinFactX="-14922213" custLinFactNeighborX="-15000000" custLinFactNeighborY="3919"/>
      <dgm:spPr/>
    </dgm:pt>
    <dgm:pt modelId="{6413F1A1-455C-ED4E-B311-F888D1CB84B0}" type="pres">
      <dgm:prSet presAssocID="{BEA57BEA-E954-CC42-B164-E5DC16CA5A45}" presName="ChildText1" presStyleLbl="revTx" presStyleIdx="0" presStyleCnt="0" custScaleX="96201" custScaleY="49539" custLinFactNeighborX="8416" custLinFactNeighborY="0">
        <dgm:presLayoutVars>
          <dgm:chMax val="0"/>
          <dgm:chPref val="0"/>
          <dgm:bulletEnabled val="1"/>
        </dgm:presLayoutVars>
      </dgm:prSet>
      <dgm:spPr/>
    </dgm:pt>
    <dgm:pt modelId="{B2B6A0CB-D928-6742-A997-2D5BB39BB66B}" type="pres">
      <dgm:prSet presAssocID="{BEA57BEA-E954-CC42-B164-E5DC16CA5A45}" presName="ChildText2" presStyleLbl="revTx" presStyleIdx="0" presStyleCnt="0" custScaleX="133964" custScaleY="61215" custLinFactNeighborX="8113" custLinFactNeighborY="0">
        <dgm:presLayoutVars>
          <dgm:chMax val="0"/>
          <dgm:chPref val="0"/>
          <dgm:bulletEnabled val="1"/>
        </dgm:presLayoutVars>
      </dgm:prSet>
      <dgm:spPr/>
    </dgm:pt>
    <dgm:pt modelId="{8B4D9FEA-124D-3645-9E95-4F743DECF1E9}" type="pres">
      <dgm:prSet presAssocID="{BEA57BEA-E954-CC42-B164-E5DC16CA5A45}" presName="ParentText1" presStyleLbl="revTx" presStyleIdx="0" presStyleCnt="0">
        <dgm:presLayoutVars>
          <dgm:chMax val="1"/>
          <dgm:chPref val="1"/>
        </dgm:presLayoutVars>
      </dgm:prSet>
      <dgm:spPr/>
    </dgm:pt>
    <dgm:pt modelId="{7736F4DD-AC43-694E-9326-F90983056CDC}" type="pres">
      <dgm:prSet presAssocID="{BEA57BEA-E954-CC42-B164-E5DC16CA5A45}" presName="ParentShape1" presStyleLbl="alignImgPlace1" presStyleIdx="0" presStyleCnt="2" custScaleX="138602" custScaleY="138889" custLinFactNeighborX="-15240" custLinFactNeighborY="2177">
        <dgm:presLayoutVars/>
      </dgm:prSet>
      <dgm:spPr/>
    </dgm:pt>
    <dgm:pt modelId="{63EB1010-2E4D-B547-B93E-97F8E383F262}" type="pres">
      <dgm:prSet presAssocID="{BEA57BEA-E954-CC42-B164-E5DC16CA5A45}" presName="ParentText2" presStyleLbl="revTx" presStyleIdx="0" presStyleCnt="0">
        <dgm:presLayoutVars>
          <dgm:chMax val="1"/>
          <dgm:chPref val="1"/>
        </dgm:presLayoutVars>
      </dgm:prSet>
      <dgm:spPr/>
    </dgm:pt>
    <dgm:pt modelId="{9BFBD670-5F93-D045-85BE-FFC5F38A11A0}" type="pres">
      <dgm:prSet presAssocID="{BEA57BEA-E954-CC42-B164-E5DC16CA5A45}" presName="ParentShape2" presStyleLbl="alignImgPlace1" presStyleIdx="1" presStyleCnt="2" custScaleX="126369" custScaleY="138889" custLinFactNeighborX="22616" custLinFactNeighborY="2633">
        <dgm:presLayoutVars/>
      </dgm:prSet>
      <dgm:spPr/>
    </dgm:pt>
  </dgm:ptLst>
  <dgm:cxnLst>
    <dgm:cxn modelId="{4999FA29-EABA-9A48-9EF1-A347237D0CBF}" type="presOf" srcId="{6B3DCD04-5E65-954A-8BD9-E335059F8260}" destId="{B2B6A0CB-D928-6742-A997-2D5BB39BB66B}" srcOrd="0" destOrd="0" presId="urn:microsoft.com/office/officeart/2009/3/layout/OpposingIdeas"/>
    <dgm:cxn modelId="{D5F88532-07A7-E34C-8A7D-CD13F102EC32}" type="presOf" srcId="{F89AF2D5-9CF6-8945-A122-CDA413EC2F98}" destId="{8B4D9FEA-124D-3645-9E95-4F743DECF1E9}" srcOrd="0" destOrd="0" presId="urn:microsoft.com/office/officeart/2009/3/layout/OpposingIdeas"/>
    <dgm:cxn modelId="{E2C5234B-715F-2A4B-B14F-4D364A0D679E}" type="presOf" srcId="{FDF37A6E-16B6-2F4D-A0F2-FFF0AEB67409}" destId="{9BFBD670-5F93-D045-85BE-FFC5F38A11A0}" srcOrd="1" destOrd="0" presId="urn:microsoft.com/office/officeart/2009/3/layout/OpposingIdeas"/>
    <dgm:cxn modelId="{E03C6B52-9CCD-5D41-98D6-ABBAFAC737CD}" srcId="{BEA57BEA-E954-CC42-B164-E5DC16CA5A45}" destId="{FDF37A6E-16B6-2F4D-A0F2-FFF0AEB67409}" srcOrd="1" destOrd="0" parTransId="{A8F78719-EAEC-2348-BC78-D9EED88B632B}" sibTransId="{37E1048C-03FF-5746-A808-23A50BFBBCF5}"/>
    <dgm:cxn modelId="{2415DD5D-20DF-E342-914B-E77893D49E39}" srcId="{F89AF2D5-9CF6-8945-A122-CDA413EC2F98}" destId="{AC79029E-3808-F24A-8613-81A121308CC3}" srcOrd="0" destOrd="0" parTransId="{A29557B5-13DF-BA48-88BF-6B9DB35F30AB}" sibTransId="{7F59921A-409B-394D-AC32-5B924F8339F6}"/>
    <dgm:cxn modelId="{BE01D967-E811-EE45-925B-B8424F366DE0}" type="presOf" srcId="{BEA57BEA-E954-CC42-B164-E5DC16CA5A45}" destId="{2F493B63-C6BA-5042-BF5D-14547412DEC5}" srcOrd="0" destOrd="0" presId="urn:microsoft.com/office/officeart/2009/3/layout/OpposingIdeas"/>
    <dgm:cxn modelId="{3F956C74-AA5A-0C42-9292-3853CDB68179}" type="presOf" srcId="{F89AF2D5-9CF6-8945-A122-CDA413EC2F98}" destId="{7736F4DD-AC43-694E-9326-F90983056CDC}" srcOrd="1" destOrd="0" presId="urn:microsoft.com/office/officeart/2009/3/layout/OpposingIdeas"/>
    <dgm:cxn modelId="{5A2F1583-E8FF-4543-8617-46D529193EBB}" type="presOf" srcId="{FDF37A6E-16B6-2F4D-A0F2-FFF0AEB67409}" destId="{63EB1010-2E4D-B547-B93E-97F8E383F262}" srcOrd="0" destOrd="0" presId="urn:microsoft.com/office/officeart/2009/3/layout/OpposingIdeas"/>
    <dgm:cxn modelId="{70CDEDB7-4206-7845-AE87-A728FE11D4C1}" srcId="{BEA57BEA-E954-CC42-B164-E5DC16CA5A45}" destId="{F89AF2D5-9CF6-8945-A122-CDA413EC2F98}" srcOrd="0" destOrd="0" parTransId="{C96ABBC6-C00C-CB46-82EC-902EE53C0872}" sibTransId="{8937E95E-592D-6E4F-A80D-90081EEA1BE2}"/>
    <dgm:cxn modelId="{3DE755C3-8B13-CA45-B8D8-270C1E85EA5A}" type="presOf" srcId="{AC79029E-3808-F24A-8613-81A121308CC3}" destId="{6413F1A1-455C-ED4E-B311-F888D1CB84B0}" srcOrd="0" destOrd="0" presId="urn:microsoft.com/office/officeart/2009/3/layout/OpposingIdeas"/>
    <dgm:cxn modelId="{03A426F1-6DD0-8F46-B88E-EBC986F9C04A}" srcId="{FDF37A6E-16B6-2F4D-A0F2-FFF0AEB67409}" destId="{6B3DCD04-5E65-954A-8BD9-E335059F8260}" srcOrd="0" destOrd="0" parTransId="{A37D27A6-B5A2-7B4D-A455-B27CE0A842E4}" sibTransId="{3E6387DA-D25E-6447-B21E-B1218B789B73}"/>
    <dgm:cxn modelId="{C630DCC1-7E64-B948-8EEC-5EDB018FB974}" type="presParOf" srcId="{2F493B63-C6BA-5042-BF5D-14547412DEC5}" destId="{9660E105-AA21-4943-BE89-A120A9BF33D5}" srcOrd="0" destOrd="0" presId="urn:microsoft.com/office/officeart/2009/3/layout/OpposingIdeas"/>
    <dgm:cxn modelId="{DA755ACF-C849-2C4A-AAC9-00FBF7CCBDD6}" type="presParOf" srcId="{2F493B63-C6BA-5042-BF5D-14547412DEC5}" destId="{123545A3-D308-B742-ACFF-34CDF6739BFF}" srcOrd="1" destOrd="0" presId="urn:microsoft.com/office/officeart/2009/3/layout/OpposingIdeas"/>
    <dgm:cxn modelId="{DDAB6D48-8921-4046-A3A7-E75CC4A25933}" type="presParOf" srcId="{2F493B63-C6BA-5042-BF5D-14547412DEC5}" destId="{6413F1A1-455C-ED4E-B311-F888D1CB84B0}" srcOrd="2" destOrd="0" presId="urn:microsoft.com/office/officeart/2009/3/layout/OpposingIdeas"/>
    <dgm:cxn modelId="{95F3022B-44F2-9346-806B-DAC785C3CDAF}" type="presParOf" srcId="{2F493B63-C6BA-5042-BF5D-14547412DEC5}" destId="{B2B6A0CB-D928-6742-A997-2D5BB39BB66B}" srcOrd="3" destOrd="0" presId="urn:microsoft.com/office/officeart/2009/3/layout/OpposingIdeas"/>
    <dgm:cxn modelId="{24087364-1ABA-504F-A5B8-C34846E0A91A}" type="presParOf" srcId="{2F493B63-C6BA-5042-BF5D-14547412DEC5}" destId="{8B4D9FEA-124D-3645-9E95-4F743DECF1E9}" srcOrd="4" destOrd="0" presId="urn:microsoft.com/office/officeart/2009/3/layout/OpposingIdeas"/>
    <dgm:cxn modelId="{C5E32E4E-6D1C-1149-B8BF-8D8FEB028AB3}" type="presParOf" srcId="{2F493B63-C6BA-5042-BF5D-14547412DEC5}" destId="{7736F4DD-AC43-694E-9326-F90983056CDC}" srcOrd="5" destOrd="0" presId="urn:microsoft.com/office/officeart/2009/3/layout/OpposingIdeas"/>
    <dgm:cxn modelId="{55BDEC79-036F-DF4D-83B7-60ECC9B438C4}" type="presParOf" srcId="{2F493B63-C6BA-5042-BF5D-14547412DEC5}" destId="{63EB1010-2E4D-B547-B93E-97F8E383F262}" srcOrd="6" destOrd="0" presId="urn:microsoft.com/office/officeart/2009/3/layout/OpposingIdeas"/>
    <dgm:cxn modelId="{517D16D4-21F4-1349-88DC-158E9E4C46DF}" type="presParOf" srcId="{2F493B63-C6BA-5042-BF5D-14547412DEC5}" destId="{9BFBD670-5F93-D045-85BE-FFC5F38A11A0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F274E0-E560-F24F-B018-889D1081FB09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1248AAC8-0D5B-AA41-9503-92DDAE5E7782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rPr>
            <a:t>1</a:t>
          </a:r>
        </a:p>
      </dgm:t>
    </dgm:pt>
    <dgm:pt modelId="{70F68EA2-389B-7848-A6B3-2F312C32F2D1}" type="parTrans" cxnId="{2AC03C7F-06C4-3E4C-97A4-87C301B47358}">
      <dgm:prSet/>
      <dgm:spPr/>
      <dgm:t>
        <a:bodyPr/>
        <a:lstStyle/>
        <a:p>
          <a:endParaRPr lang="en-US"/>
        </a:p>
      </dgm:t>
    </dgm:pt>
    <dgm:pt modelId="{7B83B3D4-7D0C-7444-A103-6C25C03A5ED0}" type="sibTrans" cxnId="{2AC03C7F-06C4-3E4C-97A4-87C301B47358}">
      <dgm:prSet/>
      <dgm:spPr/>
      <dgm:t>
        <a:bodyPr/>
        <a:lstStyle/>
        <a:p>
          <a:endParaRPr lang="en-US"/>
        </a:p>
      </dgm:t>
    </dgm:pt>
    <dgm:pt modelId="{A27DBBCF-AD55-114F-B329-48E185361887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rPr>
            <a:t>2</a:t>
          </a:r>
        </a:p>
      </dgm:t>
    </dgm:pt>
    <dgm:pt modelId="{CD6AF8E7-E73F-3845-B6D8-DBE8177F0D50}" type="parTrans" cxnId="{61F79577-0B94-A34B-9F04-313A3EC9DD43}">
      <dgm:prSet/>
      <dgm:spPr/>
      <dgm:t>
        <a:bodyPr/>
        <a:lstStyle/>
        <a:p>
          <a:endParaRPr lang="en-US"/>
        </a:p>
      </dgm:t>
    </dgm:pt>
    <dgm:pt modelId="{43FB3041-8225-5847-AFB0-3B63BA28F57E}" type="sibTrans" cxnId="{61F79577-0B94-A34B-9F04-313A3EC9DD43}">
      <dgm:prSet/>
      <dgm:spPr/>
      <dgm:t>
        <a:bodyPr/>
        <a:lstStyle/>
        <a:p>
          <a:endParaRPr lang="en-US"/>
        </a:p>
      </dgm:t>
    </dgm:pt>
    <dgm:pt modelId="{1B339839-8F1A-BF4A-82D2-E393A57E1994}">
      <dgm:prSet phldrT="[Text]"/>
      <dgm:spPr>
        <a:solidFill>
          <a:schemeClr val="tx2">
            <a:lumMod val="50000"/>
            <a:lumOff val="50000"/>
          </a:schemeClr>
        </a:solidFill>
        <a:ln>
          <a:solidFill>
            <a:schemeClr val="tx2">
              <a:lumMod val="25000"/>
              <a:lumOff val="75000"/>
            </a:schemeClr>
          </a:solidFill>
        </a:ln>
      </dgm:spPr>
      <dgm:t>
        <a:bodyPr/>
        <a:lstStyle/>
        <a:p>
          <a:r>
            <a:rPr lang="en-US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rPr>
            <a:t>3</a:t>
          </a:r>
        </a:p>
      </dgm:t>
    </dgm:pt>
    <dgm:pt modelId="{B145EEE5-F337-9A42-8B79-ACB6BA7587CE}" type="parTrans" cxnId="{86365E07-EEB2-DC43-926B-15D40862508A}">
      <dgm:prSet/>
      <dgm:spPr/>
      <dgm:t>
        <a:bodyPr/>
        <a:lstStyle/>
        <a:p>
          <a:endParaRPr lang="en-US"/>
        </a:p>
      </dgm:t>
    </dgm:pt>
    <dgm:pt modelId="{F96463EC-30F0-9848-9C89-E09316B552D3}" type="sibTrans" cxnId="{86365E07-EEB2-DC43-926B-15D40862508A}">
      <dgm:prSet/>
      <dgm:spPr/>
      <dgm:t>
        <a:bodyPr/>
        <a:lstStyle/>
        <a:p>
          <a:endParaRPr lang="en-US"/>
        </a:p>
      </dgm:t>
    </dgm:pt>
    <dgm:pt modelId="{0A1E229A-36DB-484C-9EA5-E6D1D7247B44}" type="pres">
      <dgm:prSet presAssocID="{62F274E0-E560-F24F-B018-889D1081FB09}" presName="Name0" presStyleCnt="0">
        <dgm:presLayoutVars>
          <dgm:dir/>
          <dgm:animLvl val="lvl"/>
          <dgm:resizeHandles val="exact"/>
        </dgm:presLayoutVars>
      </dgm:prSet>
      <dgm:spPr/>
    </dgm:pt>
    <dgm:pt modelId="{8EDD7148-F7DF-514D-A9E8-AB0147981D01}" type="pres">
      <dgm:prSet presAssocID="{1248AAC8-0D5B-AA41-9503-92DDAE5E7782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BB1F870-4D81-1C43-8CFF-EED7417F813D}" type="pres">
      <dgm:prSet presAssocID="{7B83B3D4-7D0C-7444-A103-6C25C03A5ED0}" presName="parTxOnlySpace" presStyleCnt="0"/>
      <dgm:spPr/>
    </dgm:pt>
    <dgm:pt modelId="{47FAB707-149D-AE44-8837-5D2E12931DE8}" type="pres">
      <dgm:prSet presAssocID="{A27DBBCF-AD55-114F-B329-48E185361887}" presName="parTxOnly" presStyleLbl="node1" presStyleIdx="1" presStyleCnt="3" custLinFactNeighborX="2404" custLinFactNeighborY="-1781">
        <dgm:presLayoutVars>
          <dgm:chMax val="0"/>
          <dgm:chPref val="0"/>
          <dgm:bulletEnabled val="1"/>
        </dgm:presLayoutVars>
      </dgm:prSet>
      <dgm:spPr/>
    </dgm:pt>
    <dgm:pt modelId="{BD7ED09E-E923-2343-9246-A09F03C155F9}" type="pres">
      <dgm:prSet presAssocID="{43FB3041-8225-5847-AFB0-3B63BA28F57E}" presName="parTxOnlySpace" presStyleCnt="0"/>
      <dgm:spPr/>
    </dgm:pt>
    <dgm:pt modelId="{E9B8360C-5FDF-214C-905E-364DA05BC2C7}" type="pres">
      <dgm:prSet presAssocID="{1B339839-8F1A-BF4A-82D2-E393A57E199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6365E07-EEB2-DC43-926B-15D40862508A}" srcId="{62F274E0-E560-F24F-B018-889D1081FB09}" destId="{1B339839-8F1A-BF4A-82D2-E393A57E1994}" srcOrd="2" destOrd="0" parTransId="{B145EEE5-F337-9A42-8B79-ACB6BA7587CE}" sibTransId="{F96463EC-30F0-9848-9C89-E09316B552D3}"/>
    <dgm:cxn modelId="{936C4F5C-9337-154B-BA89-D20CD2DE24B5}" type="presOf" srcId="{A27DBBCF-AD55-114F-B329-48E185361887}" destId="{47FAB707-149D-AE44-8837-5D2E12931DE8}" srcOrd="0" destOrd="0" presId="urn:microsoft.com/office/officeart/2005/8/layout/chevron1"/>
    <dgm:cxn modelId="{8153EB63-09FF-954D-8195-0AFBBE387582}" type="presOf" srcId="{62F274E0-E560-F24F-B018-889D1081FB09}" destId="{0A1E229A-36DB-484C-9EA5-E6D1D7247B44}" srcOrd="0" destOrd="0" presId="urn:microsoft.com/office/officeart/2005/8/layout/chevron1"/>
    <dgm:cxn modelId="{61F79577-0B94-A34B-9F04-313A3EC9DD43}" srcId="{62F274E0-E560-F24F-B018-889D1081FB09}" destId="{A27DBBCF-AD55-114F-B329-48E185361887}" srcOrd="1" destOrd="0" parTransId="{CD6AF8E7-E73F-3845-B6D8-DBE8177F0D50}" sibTransId="{43FB3041-8225-5847-AFB0-3B63BA28F57E}"/>
    <dgm:cxn modelId="{2AC03C7F-06C4-3E4C-97A4-87C301B47358}" srcId="{62F274E0-E560-F24F-B018-889D1081FB09}" destId="{1248AAC8-0D5B-AA41-9503-92DDAE5E7782}" srcOrd="0" destOrd="0" parTransId="{70F68EA2-389B-7848-A6B3-2F312C32F2D1}" sibTransId="{7B83B3D4-7D0C-7444-A103-6C25C03A5ED0}"/>
    <dgm:cxn modelId="{53A5A486-3877-C44C-B7B8-D9A753A887A7}" type="presOf" srcId="{1248AAC8-0D5B-AA41-9503-92DDAE5E7782}" destId="{8EDD7148-F7DF-514D-A9E8-AB0147981D01}" srcOrd="0" destOrd="0" presId="urn:microsoft.com/office/officeart/2005/8/layout/chevron1"/>
    <dgm:cxn modelId="{CA1FB5F3-874A-0F4E-BAF3-4E53091BE386}" type="presOf" srcId="{1B339839-8F1A-BF4A-82D2-E393A57E1994}" destId="{E9B8360C-5FDF-214C-905E-364DA05BC2C7}" srcOrd="0" destOrd="0" presId="urn:microsoft.com/office/officeart/2005/8/layout/chevron1"/>
    <dgm:cxn modelId="{14472FB9-2938-9549-902C-37528F76C94A}" type="presParOf" srcId="{0A1E229A-36DB-484C-9EA5-E6D1D7247B44}" destId="{8EDD7148-F7DF-514D-A9E8-AB0147981D01}" srcOrd="0" destOrd="0" presId="urn:microsoft.com/office/officeart/2005/8/layout/chevron1"/>
    <dgm:cxn modelId="{A6C48DCF-DBD5-554F-B4AF-4E7AC60BFEA1}" type="presParOf" srcId="{0A1E229A-36DB-484C-9EA5-E6D1D7247B44}" destId="{2BB1F870-4D81-1C43-8CFF-EED7417F813D}" srcOrd="1" destOrd="0" presId="urn:microsoft.com/office/officeart/2005/8/layout/chevron1"/>
    <dgm:cxn modelId="{661D5C7A-4FB3-0A4B-8E91-58E56F0B1FE4}" type="presParOf" srcId="{0A1E229A-36DB-484C-9EA5-E6D1D7247B44}" destId="{47FAB707-149D-AE44-8837-5D2E12931DE8}" srcOrd="2" destOrd="0" presId="urn:microsoft.com/office/officeart/2005/8/layout/chevron1"/>
    <dgm:cxn modelId="{4CD90FEB-C28E-0641-91AA-A24C0CEABA55}" type="presParOf" srcId="{0A1E229A-36DB-484C-9EA5-E6D1D7247B44}" destId="{BD7ED09E-E923-2343-9246-A09F03C155F9}" srcOrd="3" destOrd="0" presId="urn:microsoft.com/office/officeart/2005/8/layout/chevron1"/>
    <dgm:cxn modelId="{889A326E-7350-EE41-ADE6-6A041163644C}" type="presParOf" srcId="{0A1E229A-36DB-484C-9EA5-E6D1D7247B44}" destId="{E9B8360C-5FDF-214C-905E-364DA05BC2C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8E883-F73E-B843-8BF5-763EA688F862}">
      <dsp:nvSpPr>
        <dsp:cNvPr id="0" name=""/>
        <dsp:cNvSpPr/>
      </dsp:nvSpPr>
      <dsp:spPr>
        <a:xfrm>
          <a:off x="-1880426" y="-291821"/>
          <a:ext cx="2248887" cy="2248887"/>
        </a:xfrm>
        <a:prstGeom prst="blockArc">
          <a:avLst>
            <a:gd name="adj1" fmla="val 18900000"/>
            <a:gd name="adj2" fmla="val 2700000"/>
            <a:gd name="adj3" fmla="val 96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1A63F-0926-5149-8186-EFE76F2AF6EA}">
      <dsp:nvSpPr>
        <dsp:cNvPr id="0" name=""/>
        <dsp:cNvSpPr/>
      </dsp:nvSpPr>
      <dsp:spPr>
        <a:xfrm>
          <a:off x="236815" y="166524"/>
          <a:ext cx="2773566" cy="333048"/>
        </a:xfrm>
        <a:prstGeom prst="rect">
          <a:avLst/>
        </a:prstGeom>
        <a:solidFill>
          <a:srgbClr val="FF0000">
            <a:alpha val="50183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35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BLUE</a:t>
          </a:r>
        </a:p>
      </dsp:txBody>
      <dsp:txXfrm>
        <a:off x="236815" y="166524"/>
        <a:ext cx="2773566" cy="333048"/>
      </dsp:txXfrm>
    </dsp:sp>
    <dsp:sp modelId="{BE8F7341-8AB9-124F-8A39-615235DA3F26}">
      <dsp:nvSpPr>
        <dsp:cNvPr id="0" name=""/>
        <dsp:cNvSpPr/>
      </dsp:nvSpPr>
      <dsp:spPr>
        <a:xfrm>
          <a:off x="28659" y="124893"/>
          <a:ext cx="416311" cy="416311"/>
        </a:xfrm>
        <a:prstGeom prst="ellipse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3E873-BE94-BF40-9224-7FDB3E441A29}">
      <dsp:nvSpPr>
        <dsp:cNvPr id="0" name=""/>
        <dsp:cNvSpPr/>
      </dsp:nvSpPr>
      <dsp:spPr>
        <a:xfrm>
          <a:off x="357878" y="666097"/>
          <a:ext cx="2652503" cy="333048"/>
        </a:xfrm>
        <a:prstGeom prst="rect">
          <a:avLst/>
        </a:prstGeom>
        <a:solidFill>
          <a:srgbClr val="FF0000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35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Homoskedastic</a:t>
          </a:r>
          <a:endParaRPr lang="en-US" sz="1600" kern="1200" dirty="0"/>
        </a:p>
      </dsp:txBody>
      <dsp:txXfrm>
        <a:off x="357878" y="666097"/>
        <a:ext cx="2652503" cy="333048"/>
      </dsp:txXfrm>
    </dsp:sp>
    <dsp:sp modelId="{19E63071-BBBF-E44F-86BF-732BE46F9703}">
      <dsp:nvSpPr>
        <dsp:cNvPr id="0" name=""/>
        <dsp:cNvSpPr/>
      </dsp:nvSpPr>
      <dsp:spPr>
        <a:xfrm>
          <a:off x="149723" y="624466"/>
          <a:ext cx="416311" cy="416311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AAF67-2470-AD4D-A539-3972A35A13B8}">
      <dsp:nvSpPr>
        <dsp:cNvPr id="0" name=""/>
        <dsp:cNvSpPr/>
      </dsp:nvSpPr>
      <dsp:spPr>
        <a:xfrm>
          <a:off x="236815" y="1165670"/>
          <a:ext cx="2773566" cy="333048"/>
        </a:xfrm>
        <a:prstGeom prst="rect">
          <a:avLst/>
        </a:prstGeom>
        <a:solidFill>
          <a:srgbClr val="FF0000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35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OLS-Ordinary Least Square</a:t>
          </a:r>
        </a:p>
      </dsp:txBody>
      <dsp:txXfrm>
        <a:off x="236815" y="1165670"/>
        <a:ext cx="2773566" cy="333048"/>
      </dsp:txXfrm>
    </dsp:sp>
    <dsp:sp modelId="{47FADF29-93E4-BE45-8B0C-4C1A00661A56}">
      <dsp:nvSpPr>
        <dsp:cNvPr id="0" name=""/>
        <dsp:cNvSpPr/>
      </dsp:nvSpPr>
      <dsp:spPr>
        <a:xfrm>
          <a:off x="28659" y="1124039"/>
          <a:ext cx="416311" cy="416311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D5D16-54D9-F54E-8316-D350A72061E3}">
      <dsp:nvSpPr>
        <dsp:cNvPr id="0" name=""/>
        <dsp:cNvSpPr/>
      </dsp:nvSpPr>
      <dsp:spPr>
        <a:xfrm rot="5400000">
          <a:off x="-239321" y="239327"/>
          <a:ext cx="1595477" cy="1116834"/>
        </a:xfrm>
        <a:prstGeom prst="chevron">
          <a:avLst/>
        </a:prstGeom>
        <a:solidFill>
          <a:srgbClr val="FFC000">
            <a:alpha val="50000"/>
          </a:srgb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1</a:t>
          </a:r>
        </a:p>
      </dsp:txBody>
      <dsp:txXfrm rot="-5400000">
        <a:off x="1" y="558422"/>
        <a:ext cx="1116834" cy="478643"/>
      </dsp:txXfrm>
    </dsp:sp>
    <dsp:sp modelId="{71C89537-12FA-884A-ABF1-6B3CF59B0D9A}">
      <dsp:nvSpPr>
        <dsp:cNvPr id="0" name=""/>
        <dsp:cNvSpPr/>
      </dsp:nvSpPr>
      <dsp:spPr>
        <a:xfrm rot="5400000">
          <a:off x="2907054" y="-1828284"/>
          <a:ext cx="1037060" cy="46936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CEBA5-732C-314A-8E28-DE9215890CA7}">
      <dsp:nvSpPr>
        <dsp:cNvPr id="0" name=""/>
        <dsp:cNvSpPr/>
      </dsp:nvSpPr>
      <dsp:spPr>
        <a:xfrm rot="5400000">
          <a:off x="-239321" y="1640464"/>
          <a:ext cx="1595477" cy="1116834"/>
        </a:xfrm>
        <a:prstGeom prst="chevron">
          <a:avLst/>
        </a:prstGeom>
        <a:solidFill>
          <a:srgbClr val="92D050">
            <a:alpha val="54217"/>
          </a:srgb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2</a:t>
          </a:r>
        </a:p>
      </dsp:txBody>
      <dsp:txXfrm rot="-5400000">
        <a:off x="1" y="1959559"/>
        <a:ext cx="1116834" cy="478643"/>
      </dsp:txXfrm>
    </dsp:sp>
    <dsp:sp modelId="{E4D02F59-C289-C54A-AFA2-7E85E4D00530}">
      <dsp:nvSpPr>
        <dsp:cNvPr id="0" name=""/>
        <dsp:cNvSpPr/>
      </dsp:nvSpPr>
      <dsp:spPr>
        <a:xfrm rot="5400000">
          <a:off x="2945119" y="-427141"/>
          <a:ext cx="1037060" cy="46936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3AFEEB-6C76-3945-9E30-5FA64FE55E8B}">
      <dsp:nvSpPr>
        <dsp:cNvPr id="0" name=""/>
        <dsp:cNvSpPr/>
      </dsp:nvSpPr>
      <dsp:spPr>
        <a:xfrm rot="5400000">
          <a:off x="-239321" y="3041601"/>
          <a:ext cx="1595477" cy="1116834"/>
        </a:xfrm>
        <a:prstGeom prst="chevron">
          <a:avLst/>
        </a:prstGeom>
        <a:solidFill>
          <a:schemeClr val="tx2">
            <a:lumMod val="25000"/>
            <a:lumOff val="75000"/>
            <a:alpha val="5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3</a:t>
          </a:r>
        </a:p>
      </dsp:txBody>
      <dsp:txXfrm rot="-5400000">
        <a:off x="1" y="3360696"/>
        <a:ext cx="1116834" cy="478643"/>
      </dsp:txXfrm>
    </dsp:sp>
    <dsp:sp modelId="{BDD35614-B7C8-5E49-9E49-A3865F233082}">
      <dsp:nvSpPr>
        <dsp:cNvPr id="0" name=""/>
        <dsp:cNvSpPr/>
      </dsp:nvSpPr>
      <dsp:spPr>
        <a:xfrm rot="5400000">
          <a:off x="2945119" y="985962"/>
          <a:ext cx="1037060" cy="46936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EC79F-542B-674A-8361-BD86BA71ADD1}">
      <dsp:nvSpPr>
        <dsp:cNvPr id="0" name=""/>
        <dsp:cNvSpPr/>
      </dsp:nvSpPr>
      <dsp:spPr>
        <a:xfrm>
          <a:off x="-4511606" y="-691831"/>
          <a:ext cx="5374540" cy="5374540"/>
        </a:xfrm>
        <a:prstGeom prst="blockArc">
          <a:avLst>
            <a:gd name="adj1" fmla="val 18900000"/>
            <a:gd name="adj2" fmla="val 2700000"/>
            <a:gd name="adj3" fmla="val 402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5A6EA6-8023-BD42-A823-3ADE796F8DC8}">
      <dsp:nvSpPr>
        <dsp:cNvPr id="0" name=""/>
        <dsp:cNvSpPr/>
      </dsp:nvSpPr>
      <dsp:spPr>
        <a:xfrm>
          <a:off x="534717" y="407085"/>
          <a:ext cx="5331293" cy="798175"/>
        </a:xfrm>
        <a:prstGeom prst="rect">
          <a:avLst/>
        </a:prstGeom>
        <a:solidFill>
          <a:srgbClr val="FF0000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552" tIns="104140" rIns="104140" bIns="10414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Basic Definition</a:t>
          </a:r>
        </a:p>
      </dsp:txBody>
      <dsp:txXfrm>
        <a:off x="534717" y="407085"/>
        <a:ext cx="5331293" cy="798175"/>
      </dsp:txXfrm>
    </dsp:sp>
    <dsp:sp modelId="{42D9B5CB-F114-B643-9972-5F07851D84FB}">
      <dsp:nvSpPr>
        <dsp:cNvPr id="0" name=""/>
        <dsp:cNvSpPr/>
      </dsp:nvSpPr>
      <dsp:spPr>
        <a:xfrm>
          <a:off x="56116" y="299315"/>
          <a:ext cx="997719" cy="997719"/>
        </a:xfrm>
        <a:prstGeom prst="ellipse">
          <a:avLst/>
        </a:prstGeom>
        <a:solidFill>
          <a:srgbClr val="FF000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1E06D-AA14-3649-96BD-44D0016CCE7A}">
      <dsp:nvSpPr>
        <dsp:cNvPr id="0" name=""/>
        <dsp:cNvSpPr/>
      </dsp:nvSpPr>
      <dsp:spPr>
        <a:xfrm>
          <a:off x="845113" y="1596351"/>
          <a:ext cx="5041156" cy="798175"/>
        </a:xfrm>
        <a:prstGeom prst="rect">
          <a:avLst/>
        </a:prstGeom>
        <a:solidFill>
          <a:srgbClr val="FFC000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552" tIns="104140" rIns="104140" bIns="10414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Compact Form</a:t>
          </a:r>
        </a:p>
      </dsp:txBody>
      <dsp:txXfrm>
        <a:off x="845113" y="1596351"/>
        <a:ext cx="5041156" cy="798175"/>
      </dsp:txXfrm>
    </dsp:sp>
    <dsp:sp modelId="{641CC899-0306-C34C-B2C5-FF29CEEB66B2}">
      <dsp:nvSpPr>
        <dsp:cNvPr id="0" name=""/>
        <dsp:cNvSpPr/>
      </dsp:nvSpPr>
      <dsp:spPr>
        <a:xfrm>
          <a:off x="346253" y="1496579"/>
          <a:ext cx="997719" cy="997719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A4C87-AE54-4644-9B02-990D0D1C30A0}">
      <dsp:nvSpPr>
        <dsp:cNvPr id="0" name=""/>
        <dsp:cNvSpPr/>
      </dsp:nvSpPr>
      <dsp:spPr>
        <a:xfrm>
          <a:off x="554976" y="2793614"/>
          <a:ext cx="5331293" cy="798175"/>
        </a:xfrm>
        <a:prstGeom prst="rect">
          <a:avLst/>
        </a:prstGeom>
        <a:solidFill>
          <a:schemeClr val="tx2">
            <a:lumMod val="25000"/>
            <a:lumOff val="75000"/>
            <a:alpha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552" tIns="104140" rIns="104140" bIns="10414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Penalties</a:t>
          </a:r>
        </a:p>
      </dsp:txBody>
      <dsp:txXfrm>
        <a:off x="554976" y="2793614"/>
        <a:ext cx="5331293" cy="798175"/>
      </dsp:txXfrm>
    </dsp:sp>
    <dsp:sp modelId="{370D218E-D3E4-2E45-A4CD-BC53E9C597ED}">
      <dsp:nvSpPr>
        <dsp:cNvPr id="0" name=""/>
        <dsp:cNvSpPr/>
      </dsp:nvSpPr>
      <dsp:spPr>
        <a:xfrm>
          <a:off x="56116" y="2693842"/>
          <a:ext cx="997719" cy="997719"/>
        </a:xfrm>
        <a:prstGeom prst="ellipse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0E105-AA21-4943-BE89-A120A9BF33D5}">
      <dsp:nvSpPr>
        <dsp:cNvPr id="0" name=""/>
        <dsp:cNvSpPr/>
      </dsp:nvSpPr>
      <dsp:spPr>
        <a:xfrm>
          <a:off x="808639" y="483617"/>
          <a:ext cx="3823106" cy="1935308"/>
        </a:xfrm>
        <a:prstGeom prst="round2DiagRect">
          <a:avLst>
            <a:gd name="adj1" fmla="val 0"/>
            <a:gd name="adj2" fmla="val 1667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545A3-D308-B742-ACFF-34CDF6739BFF}">
      <dsp:nvSpPr>
        <dsp:cNvPr id="0" name=""/>
        <dsp:cNvSpPr/>
      </dsp:nvSpPr>
      <dsp:spPr>
        <a:xfrm>
          <a:off x="2547649" y="757791"/>
          <a:ext cx="476" cy="151337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3F1A1-455C-ED4E-B311-F888D1CB84B0}">
      <dsp:nvSpPr>
        <dsp:cNvPr id="0" name=""/>
        <dsp:cNvSpPr/>
      </dsp:nvSpPr>
      <dsp:spPr>
        <a:xfrm>
          <a:off x="1182948" y="1051479"/>
          <a:ext cx="1489005" cy="80738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  <a:latin typeface="Adelle Sans Devanagari" panose="02000503000000020004" pitchFamily="2" charset="-78"/>
              <a:cs typeface="Adelle Sans Devanagari" panose="02000503000000020004" pitchFamily="2" charset="-78"/>
            </a:rPr>
            <a:t>P-Value</a:t>
          </a:r>
        </a:p>
      </dsp:txBody>
      <dsp:txXfrm>
        <a:off x="1182948" y="1051479"/>
        <a:ext cx="1489005" cy="807382"/>
      </dsp:txXfrm>
    </dsp:sp>
    <dsp:sp modelId="{B2B6A0CB-D928-6742-A997-2D5BB39BB66B}">
      <dsp:nvSpPr>
        <dsp:cNvPr id="0" name=""/>
        <dsp:cNvSpPr/>
      </dsp:nvSpPr>
      <dsp:spPr>
        <a:xfrm>
          <a:off x="2671940" y="956332"/>
          <a:ext cx="2073503" cy="99767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  <a:latin typeface="Adelle Sans Devanagari" panose="02000503000000020004" pitchFamily="2" charset="-78"/>
              <a:cs typeface="Adelle Sans Devanagari" panose="02000503000000020004" pitchFamily="2" charset="-78"/>
            </a:rPr>
            <a:t>Significance Level</a:t>
          </a:r>
        </a:p>
      </dsp:txBody>
      <dsp:txXfrm>
        <a:off x="2671940" y="956332"/>
        <a:ext cx="2073503" cy="997676"/>
      </dsp:txXfrm>
    </dsp:sp>
    <dsp:sp modelId="{7736F4DD-AC43-694E-9326-F90983056CDC}">
      <dsp:nvSpPr>
        <dsp:cNvPr id="0" name=""/>
        <dsp:cNvSpPr/>
      </dsp:nvSpPr>
      <dsp:spPr>
        <a:xfrm rot="16200000">
          <a:off x="-939329" y="680784"/>
          <a:ext cx="2910343" cy="825111"/>
        </a:xfrm>
        <a:prstGeom prst="rightArrow">
          <a:avLst>
            <a:gd name="adj1" fmla="val 49830"/>
            <a:gd name="adj2" fmla="val 60660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92D050"/>
              </a:solidFill>
            </a:rPr>
            <a:t>0.3025  (30.25%)</a:t>
          </a:r>
        </a:p>
      </dsp:txBody>
      <dsp:txXfrm>
        <a:off x="-814627" y="1012466"/>
        <a:ext cx="2660938" cy="411153"/>
      </dsp:txXfrm>
    </dsp:sp>
    <dsp:sp modelId="{9BFBD670-5F93-D045-85BE-FFC5F38A11A0}">
      <dsp:nvSpPr>
        <dsp:cNvPr id="0" name=""/>
        <dsp:cNvSpPr/>
      </dsp:nvSpPr>
      <dsp:spPr>
        <a:xfrm rot="5400000">
          <a:off x="3453203" y="1486474"/>
          <a:ext cx="2910343" cy="752287"/>
        </a:xfrm>
        <a:prstGeom prst="rightArrow">
          <a:avLst>
            <a:gd name="adj1" fmla="val 49830"/>
            <a:gd name="adj2" fmla="val 60660"/>
          </a:avLst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2"/>
              </a:solidFill>
            </a:rPr>
            <a:t>0.05  (5%)</a:t>
          </a:r>
        </a:p>
      </dsp:txBody>
      <dsp:txXfrm>
        <a:off x="3566900" y="1561489"/>
        <a:ext cx="2682950" cy="3748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D7148-F7DF-514D-A9E8-AB0147981D01}">
      <dsp:nvSpPr>
        <dsp:cNvPr id="0" name=""/>
        <dsp:cNvSpPr/>
      </dsp:nvSpPr>
      <dsp:spPr>
        <a:xfrm>
          <a:off x="3291" y="1053458"/>
          <a:ext cx="4009812" cy="1603924"/>
        </a:xfrm>
        <a:prstGeom prst="chevron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33" tIns="86678" rIns="86678" bIns="86678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rPr>
            <a:t>1</a:t>
          </a:r>
        </a:p>
      </dsp:txBody>
      <dsp:txXfrm>
        <a:off x="805253" y="1053458"/>
        <a:ext cx="2405888" cy="1603924"/>
      </dsp:txXfrm>
    </dsp:sp>
    <dsp:sp modelId="{47FAB707-149D-AE44-8837-5D2E12931DE8}">
      <dsp:nvSpPr>
        <dsp:cNvPr id="0" name=""/>
        <dsp:cNvSpPr/>
      </dsp:nvSpPr>
      <dsp:spPr>
        <a:xfrm>
          <a:off x="3621761" y="1024892"/>
          <a:ext cx="4009812" cy="1603924"/>
        </a:xfrm>
        <a:prstGeom prst="chevron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33" tIns="86678" rIns="86678" bIns="86678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rPr>
            <a:t>2</a:t>
          </a:r>
        </a:p>
      </dsp:txBody>
      <dsp:txXfrm>
        <a:off x="4423723" y="1024892"/>
        <a:ext cx="2405888" cy="1603924"/>
      </dsp:txXfrm>
    </dsp:sp>
    <dsp:sp modelId="{E9B8360C-5FDF-214C-905E-364DA05BC2C7}">
      <dsp:nvSpPr>
        <dsp:cNvPr id="0" name=""/>
        <dsp:cNvSpPr/>
      </dsp:nvSpPr>
      <dsp:spPr>
        <a:xfrm>
          <a:off x="7220953" y="1053458"/>
          <a:ext cx="4009812" cy="1603924"/>
        </a:xfrm>
        <a:prstGeom prst="chevron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tx2">
              <a:lumMod val="25000"/>
              <a:lumOff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33" tIns="86678" rIns="86678" bIns="86678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rPr>
            <a:t>3</a:t>
          </a:r>
        </a:p>
      </dsp:txBody>
      <dsp:txXfrm>
        <a:off x="8022915" y="1053458"/>
        <a:ext cx="2405888" cy="1603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30T17:07:40.5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0,'41'0,"-7"4,-24-3,-1 3,13-4,-10 0,10 0,-9 0,1 0,4 0,0 0,-4 0,4 0,-4 0,5 0,-5 0,4 0,-4 0,1 0,3 0,-3 0,0 0,3 0,-3 0,0 0,3 0,-3 0,0 0,3 0,-2 0,-1 0,4 0,-4 0,1 0,2 0,-2 0,-1 0,4 0,-4 0,0 0,4 0,-4 0,0 0,3 0,-3 0,1 0,2 0,-3 0,0 0,3 0,-2 0,-1 0,3 0,-3 0,0 0,3 0,-3 0,0 0,3 0,-3 0,0 0,3 0,-2 0,-1 0,3 0,-2 0,-1 0,3 0,-3 0,-1 0,4 0,-3 0,0 0,3 0,-4 0,1 0,3 0,-4 0,5 0,-1 0,-4 0,8 0,-11 0,7 0,0 0,-7 0,12 0,-9 0,1 0,3 0,-3 0,-1 0,4 0,-4 0,5 0,-5 0,4 0,-3 0,-1 0,4 0,-3 0,1 0,2 0,-2 0,-1 0,4 0,2 0,1 0,-1 0,-1 0,-8 0,8 0,-3 0,-1 0,5 0,-10 0,10 0,0 0,-3 0,7 0,-14 0,4 0,5 0,-8 0,8 0,0 0,-8 0,8 0,-6 0,1 0,5 0,-4 0,2 0,-2 0,-1 0,4 0,-4 0,1 0,2 0,-3 0,0 0,2 0,-2 0,0 0,3 0,-4 0,1 0,3 0,-3 0,0 0,3 0,-3 0,0 0,3 0,-3 0,0 0,3 0,-3 0,0 0,4 0,-4 0,0 0,3 0,-3 0,0 0,3 0,-3 0,0 0,3 0,-3 0,0 0,3 0,-2 0,-1 0,3 0,-3 0,0 0,3 0,-3 0,0 0,3 0,-3 0,0 0,3 0,-3 0,-1 0,4 0,-3 0,-1 0,4 0,-3 0,0 0,2 0,-2 0,3 0,-3 0,3 0,-4 0,1 0,2 0,-2 0,3 0,-3 0,2 0,-2 0,3 0,-3 0,3 5,-4-4,0 3,4-4,-4 0,5 0,-5 0,4 0,-4 4,1-3,2 3,-2-4,3 0,-4 0,4 0,-4 0,5 0,-5 0,4 0,-4 0,5 0,-4 0,3 0,-4 0,1 0,3 0,-3 0,-1 0,4 0,-3 0,0 0,3 0,-3 0,-1 0,5 0,-4 0,0 0,3 0,-3 0,0 0,3 0,-3 0,0 0,3 5,-3-4,0 3,3-4,-3 0,-1 0,4 0,-3 0,-1 0,4 0,-3 0,0 0,2 0,-2 0,3 0,-3 0,2 0,-2 0,3 0,-3 0,2 0,-2 0,-1 0,4 0,-3 0,-1 0,4 0,-3 0,-1 0,4 0,-4 0,5 0,-5 0,4 0,-3 0,0 0,3 0,-4 0,4 0,-3 0,2 0,-3 0,4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30T17:09:56.8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0,'41'0,"-7"0,-26 0,4 4,4 4,-2-2,5 5,-6-11,3 4,0-4,1 0,0 0,0 0,0 0,1 0,0 0,0 0,1 0,0 0,0 0,0 0,-1 0,1 0,-5 0,4 0,-4 0,3 0,0 0,-3 0,6 0,-9 0,14 0,-14 0,10 0,-3 0,-3 0,7 0,-4 0,2 0,-2 0,-1 0,-3 0,4 0,5 0,-9 0,3 0,-1 0,-1 0,2 0,0 0,-4 0,9 0,-8 0,3 0,0 4,-2-3,8 3,-4-4,-5 0,4 0,-4 0,5 4,-5-3,4 3,-4-4,4 0,4 0,-7 0,1 0,0 4,-1-3,2 2,-1 1,2-3,-4 7,11-7,-14 2,6-3,-1 4,-5-3,10 3,-7-4,-1 4,8-3,-11 2,10-3,-7 4,4-3,-1 2,0-3,1 0,-1 0,0 0,0 0,0 0,-1 0,1 0,1 0,-1 0,1 0,0 0,0 0,0 0,0 0,0 0,0 0,0 0,0 0,-1 0,0 0,-1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30T17:16:26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34,'39'0,"-6"0,-25 0,4 0,7-7,-8 1,11-3,-10 6,1 3,10 0,-13-4,9 3,-3-2,-2 3,6 0,-7 0,4 0,-1 0,1 0,0 0,5 0,-8 0,3 0,0 0,-6 0,9 0,-6 0,0 0,7 0,-6 0,3 0,0 0,-4 0,9 0,-3 0,-2 0,-1 0,-2 0,7 4,-7-3,2 3,0-4,-6 4,9-3,-2 2,-3-3,5 4,-7-3,4 3,0-4,0 0,1 0,-4 0,3 0,-4 0,4 0,0 0,0 0,0 0,0 0,0 0,1 0,-5 0,4 0,-3 0,3 0,2 0,-6 0,9 0,-12 0,12 0,-4 0,-3 0,6 0,-7 0,-1 0,12 0,-13 0,8 0,-3 0,-6 0,14 0,-14 0,6 0,-1 0,-5 0,10 0,-7 4,0-3,7 2,-11-3,12 0,-9 0,1 0,7 0,-6 0,3 0,0 0,-4 0,8 0,-2 0,3 0,-4 0,-1 0,1 5,-5-4,4 3,-4-4,5 0,0 0,0 0,0 0,-1 0,1 0,0 0,0 0,0 0,-5 0,4 4,-4-3,8 3,-6-4,5 0,-3 0,-3 0,7 0,-4 0,-3 0,6 0,-3 0,2 4,3-3,-9 4,4-5,-4 0,5 0,-1 0,1 4,0-3,-5 3,4-4,-4 0,5 0,0 0,0 0,-5 0,3 0,-2 0,7 0,-7 0,7 0,-4 0,-3 0,7 0,-9 0,6 0,-2 0,-3 0,2 0,2 0,-4 0,7 0,-8 0,4 0,0 0,0 0,0 0,0 0,0 0,0 0,0 0,0 0,0 0,0 0,0 0,1 0,-5 0,4 0,-4 0,5 0,-1 0,-3 0,7 0,-10 0,9 0,-6 0,0 0,6 0,-9 0,9 0,-6 4,0-3,10 3,-12-4,9 0,-5 0,-6 0,14 0,-14 0,10 0,-7 0,4 0,0 0,0 0,0 0,0 0,0 0,0 0,0 0,0 0,0 0,0 0,0 0,-1 0,1 0,0 0,0 0,-1 0,1 0,-1 0,0 0,1 0,-1 0,0 0,0 0,-1 0,1 0,0 0,-1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17B08-ED7A-1C45-AAEC-EC9798520E2A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4CE08-665F-5F49-A5AB-FE2FBBDB5F8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3005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4CE08-665F-5F49-A5AB-FE2FBBDB5F8D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38670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4CE08-665F-5F49-A5AB-FE2FBBDB5F8D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42457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4CE08-665F-5F49-A5AB-FE2FBBDB5F8D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19127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4CE08-665F-5F49-A5AB-FE2FBBDB5F8D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18088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4CE08-665F-5F49-A5AB-FE2FBBDB5F8D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00497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4CE08-665F-5F49-A5AB-FE2FBBDB5F8D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2747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ABE3-0E29-69AD-CD4C-F5DDBA598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9628C-C3DB-5669-3B40-19E1C1B1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FC5D6-75F4-52D0-1F7B-6D6F7589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B7210-E124-B7C9-226E-85FC0CD7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E10F3-4C88-2368-C28E-34E7288B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3859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5783-BD5D-C92C-B52F-B2CEE8D1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1E253-6A42-16D3-1E62-B260F31C8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8C82B-1E6F-0A70-97C5-AF88D83A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3F1E-4D27-1C4A-C77C-54A101F1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5F3C3-DB94-E271-6A6D-E40D3566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1684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C5AD-FDCF-89DC-D7A3-3136DEB1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7CB41-A2E8-1BA5-A43E-DE1C1FC4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E6664-B04D-ABAB-1298-72105889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3D284-7B5D-F10E-B9BE-F2FA801D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AB4A4-5438-9178-E03D-E7685C44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9144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0B6D-79AA-D201-8AEA-2005CF41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7E8A-9006-AC64-DB49-13EAC087F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80ED4-8DB9-8B87-A8C0-BD54AFE20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1FAF8-ABC0-9E5B-C1BF-EB852B0D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C9DC9-0FD9-2880-C8E5-6F22D720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FDA81-7CAF-89A1-6FB5-30926397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8499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0858-1E11-A494-2E3D-8A49284A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E69A-85F8-0AD4-DDBA-DB4ED7DE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3BBAC-A1F2-2C21-8097-C6BE3C83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8D0FB-A3D9-3452-F0F2-5EB68657D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869DC-AE90-5AF1-8A03-2CDD566D0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639C35-D420-DA51-1582-6609C8E3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474CB-936A-34D4-75E7-7E537DE1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F8424-ADF0-268D-8D90-AAE2D914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0897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3F6D-39C1-9BF1-3E5F-395A2F55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6FD34-9A8C-2308-CC74-9DDEA972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B08F4-A149-1258-6177-1B4F4F55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F9CE1-CEA9-E0A7-EA80-73B80B8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806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16756-698E-D0EF-83DE-A6C843A7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1A782-04ED-EEAC-5D30-B03787B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2144F-9EC8-6F28-8831-228B30EB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95910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4DD8-E026-DBE8-55C4-8DA7AEF8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B215-2DCD-382C-46E6-9BDF65C4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6644D-67D6-BA75-CAD3-7C543A14E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4C410-5F58-37E4-5422-90A6E8CF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51328-9C52-AF74-A702-3DA862B4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46B65-7E4A-489C-DCAD-604C8ACD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5512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1C49-804C-5728-3B86-8CD3278A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B09059-E98C-BE09-58DC-8FD27A84D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91BCD-AA8F-B4E8-49C9-64D18106F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86F11-1A3A-2387-070D-75060C3A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785FC-C15D-C703-F7AB-82BA28B3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C5771-EA6F-8A3A-DF1A-1A80FDA8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4843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3D91-71DA-D6F7-A814-1C45AF39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12491-EBB8-5CD8-4D68-417E28783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BCB4A-F531-9351-B400-1F08F66E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3CBAF-F24D-549F-199A-C6505AEF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A8653-0340-D514-935F-511CB3C6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2108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06D1F-3178-B607-D76F-F45D1C7F4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536AD-52DD-4B3A-EC9F-7C873A956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173E5-A570-2EAF-5D81-6071C464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642A3-09B9-AB52-3566-E879DEDAE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6B7D1-6AB5-B049-F9AE-577E3490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1888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09E9B-47F9-30E1-89B5-033CCF4C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C3424-6EA1-8EBB-C063-5DEE013FA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D458-63A3-131D-54A1-D1B41DE1F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0E70A-A065-DE4E-A7E9-F9F989A41D9C}" type="datetimeFigureOut">
              <a:rPr lang="en-IT" smtClean="0"/>
              <a:t>29/06/25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69F71-DE54-1ECF-971F-EC9B735B0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C500A-789D-DE8D-5C3C-9CAE815E0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D3568-AA79-3545-9547-BC64BEBA5B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0424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5.png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10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58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57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/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46369A4-5546-E436-105D-2C3003114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4513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810AA4-6989-3264-3D51-45E8F0F90609}"/>
              </a:ext>
            </a:extLst>
          </p:cNvPr>
          <p:cNvSpPr txBox="1"/>
          <p:nvPr/>
        </p:nvSpPr>
        <p:spPr>
          <a:xfrm>
            <a:off x="2037582" y="2790704"/>
            <a:ext cx="8116835" cy="1636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Copperplate Gothic Bold" panose="020E0705020206020404" pitchFamily="34" charset="77"/>
                <a:ea typeface="Saira Medium" pitchFamily="34" charset="-122"/>
                <a:cs typeface="Adelle Sans Devanagari" panose="02000503000000020004" pitchFamily="2" charset="-78"/>
              </a:rPr>
              <a:t>Quantile - Based Estimation and Forecasting</a:t>
            </a:r>
            <a:endParaRPr lang="en-US" sz="4000" dirty="0">
              <a:latin typeface="Copperplate Gothic Bold" panose="020E0705020206020404" pitchFamily="34" charset="77"/>
              <a:cs typeface="Adelle Sans Devanagari" panose="02000503000000020004" pitchFamily="2" charset="-78"/>
            </a:endParaRP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14397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C5E49FA-A108-2DC0-F37A-803E76CEB5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90652" y="1303197"/>
            <a:ext cx="3238803" cy="492443"/>
          </a:xfrm>
          <a:prstGeom prst="round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F807483-EEB1-6262-7646-66D56E4FFE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3839" y="1371360"/>
            <a:ext cx="3196516" cy="540567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E3EB3EC-F8F0-B302-841E-F0E04E72B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52282" y="124223"/>
            <a:ext cx="8467835" cy="1039559"/>
          </a:xfrm>
          <a:prstGeom prst="roundRect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A59769E-65D4-6726-133D-1F9B11DA03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602270"/>
              </p:ext>
            </p:extLst>
          </p:nvPr>
        </p:nvGraphicFramePr>
        <p:xfrm>
          <a:off x="448091" y="1911927"/>
          <a:ext cx="3027683" cy="1665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98D6B0-2D48-BA57-A6FB-2676DAB9C341}"/>
              </a:ext>
            </a:extLst>
          </p:cNvPr>
          <p:cNvSpPr txBox="1"/>
          <p:nvPr/>
        </p:nvSpPr>
        <p:spPr>
          <a:xfrm>
            <a:off x="741968" y="1384051"/>
            <a:ext cx="31965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6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Key Characteristics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5FB83-B99D-A3A4-9B05-50DB45F05731}"/>
              </a:ext>
            </a:extLst>
          </p:cNvPr>
          <p:cNvSpPr txBox="1"/>
          <p:nvPr/>
        </p:nvSpPr>
        <p:spPr>
          <a:xfrm>
            <a:off x="2386212" y="124223"/>
            <a:ext cx="8004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40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Simple </a:t>
            </a:r>
            <a:r>
              <a:rPr lang="en-IT" sz="4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Linear</a:t>
            </a:r>
            <a:r>
              <a:rPr lang="en-IT" sz="40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Regression </a:t>
            </a:r>
            <a:r>
              <a:rPr lang="en-IT" sz="4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66DAB-AB76-EDB9-B3A2-41E241F581A3}"/>
              </a:ext>
            </a:extLst>
          </p:cNvPr>
          <p:cNvSpPr txBox="1"/>
          <p:nvPr/>
        </p:nvSpPr>
        <p:spPr>
          <a:xfrm>
            <a:off x="7308743" y="1303197"/>
            <a:ext cx="34294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6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Math Formulations</a:t>
            </a:r>
          </a:p>
        </p:txBody>
      </p:sp>
      <p:pic>
        <p:nvPicPr>
          <p:cNvPr id="18" name="Picture 17" descr="A diagram of a person's face&#10;&#10;AI-generated content may be incorrect.">
            <a:extLst>
              <a:ext uri="{FF2B5EF4-FFF2-40B4-BE49-F238E27FC236}">
                <a16:creationId xmlns:a16="http://schemas.microsoft.com/office/drawing/2014/main" id="{17A940AF-449D-2365-FF8A-964228D92C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49" y="4043662"/>
            <a:ext cx="3597696" cy="2600652"/>
          </a:xfrm>
          <a:prstGeom prst="rect">
            <a:avLst/>
          </a:prstGeom>
        </p:spPr>
      </p:pic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BDB9886A-972D-DDD9-B547-E5DF0462B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1352181"/>
              </p:ext>
            </p:extLst>
          </p:nvPr>
        </p:nvGraphicFramePr>
        <p:xfrm>
          <a:off x="5878285" y="1911927"/>
          <a:ext cx="5810465" cy="4397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3915A32-F825-33C7-6FF7-113B6A329D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26835" y="2230692"/>
            <a:ext cx="3393282" cy="305274"/>
          </a:xfrm>
          <a:prstGeom prst="rect">
            <a:avLst/>
          </a:prstGeom>
        </p:spPr>
      </p:pic>
      <p:pic>
        <p:nvPicPr>
          <p:cNvPr id="25" name="Picture 24" descr="A mathematical equation with black lines&#10;&#10;AI-generated content may be incorrect.">
            <a:extLst>
              <a:ext uri="{FF2B5EF4-FFF2-40B4-BE49-F238E27FC236}">
                <a16:creationId xmlns:a16="http://schemas.microsoft.com/office/drawing/2014/main" id="{B353A0A7-E105-CA43-6838-B4396C6029D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8091" y="3574599"/>
            <a:ext cx="2451498" cy="529524"/>
          </a:xfrm>
          <a:prstGeom prst="rect">
            <a:avLst/>
          </a:prstGeom>
        </p:spPr>
      </p:pic>
      <p:pic>
        <p:nvPicPr>
          <p:cNvPr id="20" name="Picture 19" descr="A black symbols on a white background&#10;&#10;AI-generated content may be incorrect.">
            <a:extLst>
              <a:ext uri="{FF2B5EF4-FFF2-40B4-BE49-F238E27FC236}">
                <a16:creationId xmlns:a16="http://schemas.microsoft.com/office/drawing/2014/main" id="{9BFF26E8-2ABA-E9FA-D7BC-537BBA9B19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39453" y="3672289"/>
            <a:ext cx="1361328" cy="334144"/>
          </a:xfrm>
          <a:prstGeom prst="rect">
            <a:avLst/>
          </a:prstGeom>
        </p:spPr>
      </p:pic>
      <p:pic>
        <p:nvPicPr>
          <p:cNvPr id="16" name="Picture 15" descr="A black and orange math symbols&#10;&#10;AI-generated content may be incorrect.">
            <a:extLst>
              <a:ext uri="{FF2B5EF4-FFF2-40B4-BE49-F238E27FC236}">
                <a16:creationId xmlns:a16="http://schemas.microsoft.com/office/drawing/2014/main" id="{AD1A1884-EBF3-9C19-78C5-CE00409B3F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3351" y="4876537"/>
            <a:ext cx="1989733" cy="72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9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5" grpId="1">
        <p:bldAsOne/>
      </p:bldGraphic>
      <p:bldP spid="6" grpId="0"/>
      <p:bldP spid="7" grpId="0"/>
      <p:bldP spid="8" grpId="0"/>
      <p:bldGraphic spid="22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634431-D20E-69C8-23D3-68D69B20B89C}"/>
              </a:ext>
            </a:extLst>
          </p:cNvPr>
          <p:cNvSpPr/>
          <p:nvPr/>
        </p:nvSpPr>
        <p:spPr>
          <a:xfrm>
            <a:off x="-1" y="-1"/>
            <a:ext cx="3685309" cy="6858001"/>
          </a:xfrm>
          <a:prstGeom prst="rect">
            <a:avLst/>
          </a:prstGeom>
          <a:solidFill>
            <a:schemeClr val="bg1">
              <a:lumMod val="65000"/>
              <a:alpha val="9480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A38C85-7573-3417-BC27-BACD511ED3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8471" y="170189"/>
            <a:ext cx="3131129" cy="239402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000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Quantile</a:t>
            </a:r>
            <a:r>
              <a:rPr lang="en-IT" sz="3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Regression </a:t>
            </a:r>
            <a:r>
              <a:rPr lang="en-IT" sz="3000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73E39-AF57-DA03-AC5E-0471992F8B07}"/>
              </a:ext>
            </a:extLst>
          </p:cNvPr>
          <p:cNvSpPr txBox="1"/>
          <p:nvPr/>
        </p:nvSpPr>
        <p:spPr>
          <a:xfrm>
            <a:off x="263235" y="3429000"/>
            <a:ext cx="3131129" cy="33225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Quantile regression extends classical linear regression by estimating conditional quantiles of the response variable, rather than just the conditional mean. This provides a more complete view of relationships between variables, particularly useful when: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Data contains heteroskedasticity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Error distributions are non-normal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Outliers are present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9" name="Picture 8" descr="A diagram of a graph showing different types of forest&#10;&#10;AI-generated content may be incorrect.">
            <a:extLst>
              <a:ext uri="{FF2B5EF4-FFF2-40B4-BE49-F238E27FC236}">
                <a16:creationId xmlns:a16="http://schemas.microsoft.com/office/drawing/2014/main" id="{15DBD4B6-5D26-7A68-6A7D-38C3F006DA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650945"/>
            <a:ext cx="7772400" cy="48443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A2CF73-8569-9E62-AEAB-CB50F290DD49}"/>
              </a:ext>
            </a:extLst>
          </p:cNvPr>
          <p:cNvSpPr txBox="1"/>
          <p:nvPr/>
        </p:nvSpPr>
        <p:spPr>
          <a:xfrm>
            <a:off x="591368" y="2874852"/>
            <a:ext cx="2062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accent3">
                    <a:lumMod val="60000"/>
                    <a:lumOff val="40000"/>
                  </a:schemeClr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An Introduction 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14D0FA-53A9-35C7-F7FD-902319795322}"/>
              </a:ext>
            </a:extLst>
          </p:cNvPr>
          <p:cNvCxnSpPr/>
          <p:nvPr/>
        </p:nvCxnSpPr>
        <p:spPr>
          <a:xfrm>
            <a:off x="306462" y="3244184"/>
            <a:ext cx="2632364" cy="0"/>
          </a:xfrm>
          <a:prstGeom prst="line">
            <a:avLst/>
          </a:prstGeom>
          <a:ln>
            <a:solidFill>
              <a:srgbClr val="FF0000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E2FF2964-6E38-D3AC-533F-067CFA89D5BB}"/>
              </a:ext>
            </a:extLst>
          </p:cNvPr>
          <p:cNvSpPr/>
          <p:nvPr/>
        </p:nvSpPr>
        <p:spPr>
          <a:xfrm>
            <a:off x="6096000" y="170189"/>
            <a:ext cx="4087091" cy="1556558"/>
          </a:xfrm>
          <a:prstGeom prst="wedgeEllipseCallout">
            <a:avLst/>
          </a:prstGeom>
          <a:solidFill>
            <a:srgbClr val="FF0000">
              <a:alpha val="45225"/>
            </a:srgbClr>
          </a:solidFill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Koenker  and  Basset (1978)</a:t>
            </a:r>
          </a:p>
        </p:txBody>
      </p:sp>
    </p:spTree>
    <p:extLst>
      <p:ext uri="{BB962C8B-B14F-4D97-AF65-F5344CB8AC3E}">
        <p14:creationId xmlns:p14="http://schemas.microsoft.com/office/powerpoint/2010/main" val="198781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10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>
            <a:extLst>
              <a:ext uri="{FF2B5EF4-FFF2-40B4-BE49-F238E27FC236}">
                <a16:creationId xmlns:a16="http://schemas.microsoft.com/office/drawing/2014/main" id="{B47EE89B-8570-4D46-2179-2B7D1B896C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44488" y="186989"/>
            <a:ext cx="4191990" cy="1175657"/>
          </a:xfrm>
          <a:prstGeom prst="homePlate">
            <a:avLst/>
          </a:prstGeom>
          <a:solidFill>
            <a:schemeClr val="tx2">
              <a:lumMod val="50000"/>
              <a:lumOff val="50000"/>
              <a:alpha val="5023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6" name="Picture 5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9FA1968A-2196-718B-C140-56C968EC03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088" y="2123678"/>
            <a:ext cx="4197433" cy="647700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434B11A-7045-9948-2734-A478487CAE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354" y="3300611"/>
            <a:ext cx="1866900" cy="609600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D23CBC0-FC7B-6451-979E-7F0841F99D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604" y="4439444"/>
            <a:ext cx="2184400" cy="66040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564B52B-0F0D-74A3-4788-80F0BFB3A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608714"/>
              </p:ext>
            </p:extLst>
          </p:nvPr>
        </p:nvGraphicFramePr>
        <p:xfrm>
          <a:off x="485652" y="1738361"/>
          <a:ext cx="5940301" cy="3990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010BF6A-D4CF-283A-FBB8-ABFCCCD7B130}"/>
              </a:ext>
            </a:extLst>
          </p:cNvPr>
          <p:cNvSpPr txBox="1"/>
          <p:nvPr/>
        </p:nvSpPr>
        <p:spPr>
          <a:xfrm>
            <a:off x="4543546" y="420875"/>
            <a:ext cx="3114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4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Detailed QR</a:t>
            </a:r>
          </a:p>
        </p:txBody>
      </p:sp>
    </p:spTree>
    <p:extLst>
      <p:ext uri="{BB962C8B-B14F-4D97-AF65-F5344CB8AC3E}">
        <p14:creationId xmlns:p14="http://schemas.microsoft.com/office/powerpoint/2010/main" val="129107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ECD7EF-6B87-9D20-6570-D9E7FF21F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50093" y="4156706"/>
            <a:ext cx="5261349" cy="2585323"/>
          </a:xfrm>
          <a:prstGeom prst="roundRect">
            <a:avLst/>
          </a:prstGeom>
          <a:solidFill>
            <a:schemeClr val="tx2">
              <a:lumMod val="50000"/>
              <a:lumOff val="50000"/>
              <a:alpha val="4986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B728EB-2890-C692-8F01-F8DA88E922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50094" y="163002"/>
            <a:ext cx="5261349" cy="3120657"/>
          </a:xfrm>
          <a:prstGeom prst="roundRect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" name="Picture 4" descr="A diagram of a difference between ols and quantification&#10;&#10;AI-generated content may be incorrect.">
            <a:extLst>
              <a:ext uri="{FF2B5EF4-FFF2-40B4-BE49-F238E27FC236}">
                <a16:creationId xmlns:a16="http://schemas.microsoft.com/office/drawing/2014/main" id="{D9689FE6-ABE4-9A59-3FC9-ED55549A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8" y="1448790"/>
            <a:ext cx="6459596" cy="3927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54FFE-46F6-7B97-4681-BE6F8B3D6E99}"/>
              </a:ext>
            </a:extLst>
          </p:cNvPr>
          <p:cNvSpPr txBox="1"/>
          <p:nvPr/>
        </p:nvSpPr>
        <p:spPr>
          <a:xfrm>
            <a:off x="7029858" y="308343"/>
            <a:ext cx="52613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SLM :</a:t>
            </a:r>
          </a:p>
          <a:p>
            <a:endParaRPr lang="en-IT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Estimates conditional mean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Minimize squared residuals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Sensitive to outliers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Assumes 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normality,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homoscedasticity,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</a:t>
            </a:r>
            <a:r>
              <a:rPr lang="en-US" sz="1800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nd </a:t>
            </a:r>
            <a:r>
              <a:rPr lang="en-US" sz="1800" dirty="0" err="1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indipendence</a:t>
            </a: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Beast for average trends</a:t>
            </a:r>
            <a:br>
              <a:rPr lang="en-US" sz="1800" dirty="0"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</a:br>
            <a:endParaRPr lang="en-US" dirty="0"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effectLst/>
              <a:latin typeface="Grandview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531E8-E9CD-8E20-359E-30C410BC3D54}"/>
              </a:ext>
            </a:extLst>
          </p:cNvPr>
          <p:cNvSpPr txBox="1"/>
          <p:nvPr/>
        </p:nvSpPr>
        <p:spPr>
          <a:xfrm>
            <a:off x="6863851" y="4217167"/>
            <a:ext cx="48570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QR:</a:t>
            </a:r>
          </a:p>
          <a:p>
            <a:endParaRPr lang="en-IT" dirty="0">
              <a:solidFill>
                <a:srgbClr val="FF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Estimates conditional quantiles </a:t>
            </a:r>
            <a:endParaRPr lang="en-US" dirty="0">
              <a:solidFill>
                <a:srgbClr val="FF0000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Uses asymmetric absolute loss function </a:t>
            </a:r>
            <a:endParaRPr lang="en-US" dirty="0">
              <a:solidFill>
                <a:srgbClr val="FF0000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Robust to outliers and </a:t>
            </a:r>
            <a:r>
              <a:rPr lang="en-US" sz="1800" dirty="0" err="1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heteroschedasticity</a:t>
            </a: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endParaRPr lang="en-US" dirty="0">
              <a:solidFill>
                <a:srgbClr val="FF0000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Reveals impact at different points of distribution </a:t>
            </a:r>
            <a:endParaRPr lang="en-US" dirty="0">
              <a:solidFill>
                <a:srgbClr val="FF0000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1DC80-0DC6-5D90-71CC-918E32E3D692}"/>
              </a:ext>
            </a:extLst>
          </p:cNvPr>
          <p:cNvSpPr txBox="1"/>
          <p:nvPr/>
        </p:nvSpPr>
        <p:spPr>
          <a:xfrm>
            <a:off x="7993682" y="3318017"/>
            <a:ext cx="2897724" cy="873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OLS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VS </a:t>
            </a:r>
            <a:r>
              <a:rPr lang="en-US" sz="3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QR</a:t>
            </a:r>
          </a:p>
        </p:txBody>
      </p:sp>
    </p:spTree>
    <p:extLst>
      <p:ext uri="{BB962C8B-B14F-4D97-AF65-F5344CB8AC3E}">
        <p14:creationId xmlns:p14="http://schemas.microsoft.com/office/powerpoint/2010/main" val="312328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8EC91A-67B2-5056-7B2C-D03C826A3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97" y="395700"/>
            <a:ext cx="6895605" cy="625578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Set Up for the Analysis</a:t>
            </a:r>
            <a:endParaRPr lang="en-IT" sz="3000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9C3E6B-0759-0B34-782D-337E044BB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074208"/>
              </p:ext>
            </p:extLst>
          </p:nvPr>
        </p:nvGraphicFramePr>
        <p:xfrm>
          <a:off x="7141148" y="1849236"/>
          <a:ext cx="36335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178">
                  <a:extLst>
                    <a:ext uri="{9D8B030D-6E8A-4147-A177-3AD203B41FA5}">
                      <a16:colId xmlns:a16="http://schemas.microsoft.com/office/drawing/2014/main" val="3548597996"/>
                    </a:ext>
                  </a:extLst>
                </a:gridCol>
                <a:gridCol w="2365341">
                  <a:extLst>
                    <a:ext uri="{9D8B030D-6E8A-4147-A177-3AD203B41FA5}">
                      <a16:colId xmlns:a16="http://schemas.microsoft.com/office/drawing/2014/main" val="302120435"/>
                    </a:ext>
                  </a:extLst>
                </a:gridCol>
              </a:tblGrid>
              <a:tr h="300071"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𝝉 (tau 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397403"/>
                  </a:ext>
                </a:extLst>
              </a:tr>
              <a:tr h="300071"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83606"/>
                  </a:ext>
                </a:extLst>
              </a:tr>
              <a:tr h="300071"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0.5 (MEDIAN)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95862"/>
                  </a:ext>
                </a:extLst>
              </a:tr>
              <a:tr h="300071"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927054"/>
                  </a:ext>
                </a:extLst>
              </a:tr>
            </a:tbl>
          </a:graphicData>
        </a:graphic>
      </p:graphicFrame>
      <p:pic>
        <p:nvPicPr>
          <p:cNvPr id="108" name="Picture 107" descr="A black symbols on a white background&#10;&#10;AI-generated content may be incorrect.">
            <a:extLst>
              <a:ext uri="{FF2B5EF4-FFF2-40B4-BE49-F238E27FC236}">
                <a16:creationId xmlns:a16="http://schemas.microsoft.com/office/drawing/2014/main" id="{9878C5CB-E6B4-4D52-C527-4B27A46FF7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808" y="1220334"/>
            <a:ext cx="1092200" cy="355600"/>
          </a:xfrm>
          <a:prstGeom prst="rect">
            <a:avLst/>
          </a:prstGeom>
        </p:spPr>
      </p:pic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DC4A76E3-AFC6-E38D-07E3-61EC13441904}"/>
              </a:ext>
            </a:extLst>
          </p:cNvPr>
          <p:cNvSpPr/>
          <p:nvPr/>
        </p:nvSpPr>
        <p:spPr>
          <a:xfrm>
            <a:off x="1051514" y="1371081"/>
            <a:ext cx="4550521" cy="9563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IT" dirty="0"/>
              <a:t>ength(observations_of_CO2) =  </a:t>
            </a:r>
            <a:r>
              <a:rPr lang="en-IT" sz="3000" dirty="0">
                <a:solidFill>
                  <a:srgbClr val="FFC000"/>
                </a:solidFill>
              </a:rPr>
              <a:t>625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D168973-7E94-A53B-B19F-49259C0883EE}"/>
              </a:ext>
            </a:extLst>
          </p:cNvPr>
          <p:cNvSpPr/>
          <p:nvPr/>
        </p:nvSpPr>
        <p:spPr>
          <a:xfrm>
            <a:off x="359636" y="2693990"/>
            <a:ext cx="5934279" cy="36694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Next Step  consists into applying :</a:t>
            </a:r>
          </a:p>
          <a:p>
            <a:pPr algn="ctr"/>
            <a:endParaRPr lang="en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rgbClr val="FFC000"/>
                </a:solidFill>
              </a:rPr>
              <a:t>Criterion 1 </a:t>
            </a:r>
            <a:r>
              <a:rPr lang="en-IT" dirty="0"/>
              <a:t>:  w_k ∝  1- | 2𝝉_k  -1|</a:t>
            </a:r>
          </a:p>
          <a:p>
            <a:endParaRPr lang="en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rgbClr val="FFC000"/>
                </a:solidFill>
              </a:rPr>
              <a:t>Criterion 2 </a:t>
            </a:r>
            <a:r>
              <a:rPr lang="en-IT" dirty="0"/>
              <a:t>:  w_k  ∝ ϕ(Φ^1(𝝉_k)) / sqrt( 𝝉_k(1-𝝉_k))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rgbClr val="FFC000"/>
                </a:solidFill>
              </a:rPr>
              <a:t>CQR ( Composite Quantile Regression) </a:t>
            </a:r>
            <a:r>
              <a:rPr lang="en-IT" dirty="0">
                <a:solidFill>
                  <a:schemeClr val="bg1"/>
                </a:solidFill>
              </a:rPr>
              <a:t>:  “crq.fit()”</a:t>
            </a:r>
            <a:endParaRPr lang="en-IT" dirty="0">
              <a:solidFill>
                <a:srgbClr val="FFC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T" dirty="0">
              <a:solidFill>
                <a:srgbClr val="FFC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rgbClr val="FFC000"/>
                </a:solidFill>
              </a:rPr>
              <a:t>Package</a:t>
            </a:r>
            <a:r>
              <a:rPr lang="en-IT" dirty="0">
                <a:solidFill>
                  <a:schemeClr val="bg1"/>
                </a:solidFill>
              </a:rPr>
              <a:t> : quantreg (the most Important) and </a:t>
            </a:r>
          </a:p>
          <a:p>
            <a:r>
              <a:rPr lang="en-IT" dirty="0">
                <a:solidFill>
                  <a:schemeClr val="bg1"/>
                </a:solidFill>
              </a:rPr>
              <a:t>                             cqrReg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T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rgbClr val="FFC000"/>
                </a:solidFill>
              </a:rPr>
              <a:t>Pivotal Function </a:t>
            </a:r>
            <a:r>
              <a:rPr lang="en-IT" dirty="0">
                <a:solidFill>
                  <a:schemeClr val="bg1"/>
                </a:solidFill>
              </a:rPr>
              <a:t>:   “rq()”</a:t>
            </a:r>
            <a:endParaRPr lang="en-IT" dirty="0">
              <a:solidFill>
                <a:srgbClr val="FFC000"/>
              </a:solidFill>
            </a:endParaRP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93BC107A-57B1-63BB-84D8-458A2DB28174}"/>
              </a:ext>
            </a:extLst>
          </p:cNvPr>
          <p:cNvSpPr/>
          <p:nvPr/>
        </p:nvSpPr>
        <p:spPr>
          <a:xfrm>
            <a:off x="6947530" y="4660717"/>
            <a:ext cx="4884834" cy="8830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0" i="0" u="none" strike="noStrike" dirty="0">
                <a:solidFill>
                  <a:srgbClr val="FFC000"/>
                </a:solidFill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Objective</a:t>
            </a:r>
            <a:r>
              <a:rPr lang="en-US" sz="2000" b="0" i="0" u="none" strike="noStrike" dirty="0">
                <a:solidFill>
                  <a:srgbClr val="FFC000"/>
                </a:solidFill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  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To estimate </a:t>
            </a:r>
            <a:r>
              <a:rPr lang="el-GR" b="0" i="0" u="none" strike="noStrike" dirty="0">
                <a:solidFill>
                  <a:schemeClr val="bg1"/>
                </a:solidFill>
                <a:effectLst/>
                <a:latin typeface="Segoe UI Web (West European)"/>
                <a:cs typeface="Adelle Sans Devanagari" panose="02000503000000020004" pitchFamily="2" charset="-78"/>
              </a:rPr>
              <a:t>β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in different zones of the Y distribution</a:t>
            </a:r>
            <a:endParaRPr lang="en-IT" dirty="0">
              <a:solidFill>
                <a:schemeClr val="bg1"/>
              </a:solidFill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4EB11FC-01EB-B5E7-21BB-E5829A9B66DA}"/>
              </a:ext>
            </a:extLst>
          </p:cNvPr>
          <p:cNvCxnSpPr>
            <a:cxnSpLocks/>
          </p:cNvCxnSpPr>
          <p:nvPr/>
        </p:nvCxnSpPr>
        <p:spPr>
          <a:xfrm>
            <a:off x="9070888" y="3630880"/>
            <a:ext cx="0" cy="71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AE3122B8-057C-9EBF-FB4D-41B2BC9FE8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82552" y="3847997"/>
            <a:ext cx="92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U</a:t>
            </a:r>
            <a:r>
              <a:rPr lang="en-IT" sz="1200" dirty="0">
                <a:solidFill>
                  <a:schemeClr val="bg1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seful for :</a:t>
            </a:r>
          </a:p>
        </p:txBody>
      </p:sp>
    </p:spTree>
    <p:extLst>
      <p:ext uri="{BB962C8B-B14F-4D97-AF65-F5344CB8AC3E}">
        <p14:creationId xmlns:p14="http://schemas.microsoft.com/office/powerpoint/2010/main" val="257395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5" grpId="0" animBg="1"/>
      <p:bldP spid="134" grpId="0" animBg="1"/>
      <p:bldP spid="1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E800C5-A4ED-30B5-205B-3BC93CC7B7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37380" y="244712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Quantile Regression Visulazation</a:t>
            </a:r>
          </a:p>
        </p:txBody>
      </p:sp>
      <p:pic>
        <p:nvPicPr>
          <p:cNvPr id="6" name="Picture 5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3A2EA690-49C6-FC58-BFCB-DCAEA4AD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720" y="33748"/>
            <a:ext cx="4209201" cy="352520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250361-52D6-086A-8433-3643F79D8DC4}"/>
              </a:ext>
            </a:extLst>
          </p:cNvPr>
          <p:cNvSpPr/>
          <p:nvPr/>
        </p:nvSpPr>
        <p:spPr>
          <a:xfrm>
            <a:off x="572661" y="4322065"/>
            <a:ext cx="11046677" cy="23777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rgbClr val="FFC000"/>
                </a:solidFill>
              </a:rPr>
              <a:t>OBSERVATIONS </a:t>
            </a:r>
            <a:r>
              <a:rPr lang="en-IT" dirty="0"/>
              <a:t>:</a:t>
            </a:r>
          </a:p>
          <a:p>
            <a:pPr algn="ctr"/>
            <a:endParaRPr lang="en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three  lines have slightly positive gradients, suggesting a weak but growing relationship between X and 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different quantiles help to visualize how the distribution of  Y as a function of  X varies beyond the average, making the model more robust in the presence of outliers or asymmetric distributions.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92307F-3422-F809-43BF-DB020CFE3BD9}"/>
              </a:ext>
            </a:extLst>
          </p:cNvPr>
          <p:cNvSpPr/>
          <p:nvPr/>
        </p:nvSpPr>
        <p:spPr>
          <a:xfrm>
            <a:off x="8340087" y="653143"/>
            <a:ext cx="3737118" cy="19693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Since we work with 625 obs. </a:t>
            </a:r>
            <a:r>
              <a:rPr lang="en-US" dirty="0"/>
              <a:t>the QR results:</a:t>
            </a:r>
          </a:p>
          <a:p>
            <a:pPr algn="ctr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More ROBUST</a:t>
            </a:r>
            <a:endParaRPr lang="en-IT" dirty="0">
              <a:solidFill>
                <a:srgbClr val="FFC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T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A</a:t>
            </a:r>
            <a:r>
              <a:rPr lang="en-IT" dirty="0">
                <a:solidFill>
                  <a:srgbClr val="FFC000"/>
                </a:solidFill>
              </a:rPr>
              <a:t>nd of course it is a HETEROSKEDASTIC model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458EBC-DF39-A2A6-03B6-414FD2F71804}"/>
              </a:ext>
            </a:extLst>
          </p:cNvPr>
          <p:cNvSpPr/>
          <p:nvPr/>
        </p:nvSpPr>
        <p:spPr>
          <a:xfrm>
            <a:off x="2337458" y="3796461"/>
            <a:ext cx="7517081" cy="415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 Function : </a:t>
            </a:r>
            <a:r>
              <a:rPr lang="en-US" sz="1200" dirty="0">
                <a:solidFill>
                  <a:srgbClr val="FFC000"/>
                </a:solidFill>
              </a:rPr>
              <a:t>quantiles &lt;- </a:t>
            </a:r>
            <a:r>
              <a:rPr lang="en-US" sz="1200" dirty="0" err="1">
                <a:solidFill>
                  <a:srgbClr val="FFC000"/>
                </a:solidFill>
              </a:rPr>
              <a:t>rq</a:t>
            </a:r>
            <a:r>
              <a:rPr lang="en-US" sz="1200" dirty="0">
                <a:solidFill>
                  <a:srgbClr val="FFC000"/>
                </a:solidFill>
              </a:rPr>
              <a:t>(</a:t>
            </a:r>
            <a:r>
              <a:rPr lang="en-US" sz="1200" dirty="0" err="1">
                <a:solidFill>
                  <a:srgbClr val="FFC000"/>
                </a:solidFill>
              </a:rPr>
              <a:t>Dependent_variable_Y</a:t>
            </a:r>
            <a:r>
              <a:rPr lang="en-US" sz="1200" dirty="0">
                <a:solidFill>
                  <a:srgbClr val="FFC000"/>
                </a:solidFill>
              </a:rPr>
              <a:t> ~ </a:t>
            </a:r>
            <a:r>
              <a:rPr lang="en-US" sz="1200" dirty="0" err="1">
                <a:solidFill>
                  <a:srgbClr val="FFC000"/>
                </a:solidFill>
              </a:rPr>
              <a:t>Independent_variable_X</a:t>
            </a:r>
            <a:r>
              <a:rPr lang="en-US" sz="1200" dirty="0">
                <a:solidFill>
                  <a:srgbClr val="FFC000"/>
                </a:solidFill>
              </a:rPr>
              <a:t>, data = </a:t>
            </a:r>
            <a:r>
              <a:rPr lang="en-US" sz="1200" dirty="0" err="1">
                <a:solidFill>
                  <a:srgbClr val="FFC000"/>
                </a:solidFill>
              </a:rPr>
              <a:t>my_data</a:t>
            </a:r>
            <a:r>
              <a:rPr lang="en-US" sz="1200" dirty="0">
                <a:solidFill>
                  <a:srgbClr val="FFC000"/>
                </a:solidFill>
              </a:rPr>
              <a:t>, tau = </a:t>
            </a:r>
            <a:r>
              <a:rPr lang="en-US" sz="1200" dirty="0" err="1">
                <a:solidFill>
                  <a:srgbClr val="FFC000"/>
                </a:solidFill>
              </a:rPr>
              <a:t>taus</a:t>
            </a:r>
            <a:r>
              <a:rPr lang="en-US" sz="1200" dirty="0">
                <a:solidFill>
                  <a:srgbClr val="FFC000"/>
                </a:solidFill>
              </a:rPr>
              <a:t>)</a:t>
            </a:r>
            <a:endParaRPr lang="en-IT" sz="1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1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43E9F1C-1DC7-E736-9687-9CE85AB5F0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90805" y="2811130"/>
            <a:ext cx="5343896" cy="395780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2" name="Picture 21" descr="A graph of a graph of a function&#10;&#10;AI-generated content may be incorrect.">
            <a:extLst>
              <a:ext uri="{FF2B5EF4-FFF2-40B4-BE49-F238E27FC236}">
                <a16:creationId xmlns:a16="http://schemas.microsoft.com/office/drawing/2014/main" id="{76144CA3-04D2-18FA-7321-5C67F44227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277" y="3334388"/>
            <a:ext cx="4464957" cy="329674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32FDA31-05A8-52A9-4382-8B86D2C937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1881" y="178130"/>
            <a:ext cx="11732820" cy="25413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BCE5BE-DDDD-A068-C2BD-D44CA7BF2B7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5973285" y="653143"/>
            <a:ext cx="7917" cy="16031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8D68344-D584-E0C1-21F5-384BFFEFF24B}"/>
              </a:ext>
            </a:extLst>
          </p:cNvPr>
          <p:cNvSpPr txBox="1"/>
          <p:nvPr/>
        </p:nvSpPr>
        <p:spPr>
          <a:xfrm>
            <a:off x="478972" y="1100784"/>
            <a:ext cx="744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40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18EA0-BB58-0793-DC0D-4B3A834E9F26}"/>
              </a:ext>
            </a:extLst>
          </p:cNvPr>
          <p:cNvSpPr txBox="1"/>
          <p:nvPr/>
        </p:nvSpPr>
        <p:spPr>
          <a:xfrm>
            <a:off x="6329549" y="1100784"/>
            <a:ext cx="720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4000" dirty="0">
                <a:solidFill>
                  <a:srgbClr val="92D050"/>
                </a:solidFill>
                <a:latin typeface="+mj-lt"/>
              </a:rPr>
              <a:t>02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F0EA89-05CB-62D9-14E3-FCA939E7B6D1}"/>
              </a:ext>
            </a:extLst>
          </p:cNvPr>
          <p:cNvSpPr txBox="1"/>
          <p:nvPr/>
        </p:nvSpPr>
        <p:spPr>
          <a:xfrm>
            <a:off x="1223159" y="485845"/>
            <a:ext cx="4072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The</a:t>
            </a:r>
            <a:r>
              <a:rPr lang="en-IT" dirty="0">
                <a:solidFill>
                  <a:srgbClr val="92D050"/>
                </a:solidFill>
              </a:rPr>
              <a:t> </a:t>
            </a:r>
            <a:r>
              <a:rPr lang="en-IT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Intercept</a:t>
            </a:r>
            <a:r>
              <a:rPr lang="en-IT" dirty="0">
                <a:solidFill>
                  <a:srgbClr val="92D050"/>
                </a:solidFill>
              </a:rPr>
              <a:t> </a:t>
            </a:r>
            <a:r>
              <a:rPr lang="en-IT" dirty="0">
                <a:solidFill>
                  <a:schemeClr val="bg1"/>
                </a:solidFill>
              </a:rPr>
              <a:t>increases as the quantile increases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90F7B5-151B-E979-916E-73AA6D7645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636321" y="1132176"/>
            <a:ext cx="0" cy="384720"/>
          </a:xfrm>
          <a:prstGeom prst="straightConnector1">
            <a:avLst/>
          </a:prstGeom>
          <a:ln>
            <a:solidFill>
              <a:schemeClr val="bg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10C4D45-0C9A-87AD-D46F-45A4CBC3C507}"/>
              </a:ext>
            </a:extLst>
          </p:cNvPr>
          <p:cNvSpPr txBox="1"/>
          <p:nvPr/>
        </p:nvSpPr>
        <p:spPr>
          <a:xfrm>
            <a:off x="1444466" y="1747114"/>
            <a:ext cx="3047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Values of Y increase in the highest quantiles equal to 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31256C-6617-5995-4251-8C13019A9434}"/>
              </a:ext>
            </a:extLst>
          </p:cNvPr>
          <p:cNvSpPr txBox="1"/>
          <p:nvPr/>
        </p:nvSpPr>
        <p:spPr>
          <a:xfrm>
            <a:off x="7260460" y="485845"/>
            <a:ext cx="445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The </a:t>
            </a:r>
            <a:r>
              <a:rPr lang="en-IT" dirty="0">
                <a:solidFill>
                  <a:srgbClr val="92D050"/>
                </a:solidFill>
              </a:rPr>
              <a:t>Coefficients</a:t>
            </a:r>
            <a:r>
              <a:rPr lang="en-IT" dirty="0">
                <a:solidFill>
                  <a:schemeClr val="bg1"/>
                </a:solidFill>
              </a:rPr>
              <a:t> are not constant among the quantiles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BB33C8-BFD1-2F8E-F10C-027538D4879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142020" y="1100784"/>
            <a:ext cx="0" cy="384720"/>
          </a:xfrm>
          <a:prstGeom prst="straightConnector1">
            <a:avLst/>
          </a:prstGeom>
          <a:ln>
            <a:solidFill>
              <a:schemeClr val="bg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6369A68-95A4-69DC-2C00-8DB3FF7903F0}"/>
              </a:ext>
            </a:extLst>
          </p:cNvPr>
          <p:cNvSpPr txBox="1"/>
          <p:nvPr/>
        </p:nvSpPr>
        <p:spPr>
          <a:xfrm>
            <a:off x="7397965" y="1577185"/>
            <a:ext cx="439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The effect of X on Y changes along the conditional distribution of Y, and is not Uniform</a:t>
            </a:r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3381BADC-86C0-EFE8-DEA4-10CB550C29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049919"/>
              </p:ext>
            </p:extLst>
          </p:nvPr>
        </p:nvGraphicFramePr>
        <p:xfrm>
          <a:off x="474645" y="3306907"/>
          <a:ext cx="5343895" cy="2910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5B0C5F3E-4244-4E38-8ABD-39B7003280D6}"/>
              </a:ext>
            </a:extLst>
          </p:cNvPr>
          <p:cNvSpPr txBox="1"/>
          <p:nvPr/>
        </p:nvSpPr>
        <p:spPr>
          <a:xfrm>
            <a:off x="2636321" y="338656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ANOVA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923FE7-3B7F-68F2-CAF9-E97EBA44235E}"/>
              </a:ext>
            </a:extLst>
          </p:cNvPr>
          <p:cNvSpPr txBox="1"/>
          <p:nvPr/>
        </p:nvSpPr>
        <p:spPr>
          <a:xfrm>
            <a:off x="1223159" y="5782447"/>
            <a:ext cx="4595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There are no statistically significant differences between the slopes.</a:t>
            </a:r>
            <a:endParaRPr lang="en-IT" dirty="0">
              <a:solidFill>
                <a:srgbClr val="FFC000"/>
              </a:solidFill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837A37-9BB9-F3ED-150C-639233B21648}"/>
              </a:ext>
            </a:extLst>
          </p:cNvPr>
          <p:cNvSpPr txBox="1"/>
          <p:nvPr/>
        </p:nvSpPr>
        <p:spPr>
          <a:xfrm>
            <a:off x="7691497" y="2884559"/>
            <a:ext cx="3419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rgbClr val="FF0000"/>
                </a:solidFill>
              </a:rPr>
              <a:t>Summary ( quantiles,  se = “nid”)</a:t>
            </a:r>
          </a:p>
        </p:txBody>
      </p:sp>
    </p:spTree>
    <p:extLst>
      <p:ext uri="{BB962C8B-B14F-4D97-AF65-F5344CB8AC3E}">
        <p14:creationId xmlns:p14="http://schemas.microsoft.com/office/powerpoint/2010/main" val="181867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1" grpId="0"/>
      <p:bldP spid="44" grpId="0"/>
      <p:bldGraphic spid="47" grpId="0">
        <p:bldAsOne/>
      </p:bldGraphic>
      <p:bldGraphic spid="47" grpId="1">
        <p:bldAsOne/>
      </p:bldGraphic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3B2C5-3D07-2D34-B5E6-A6A570F9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F4AF5A8-1148-BFE3-9081-C709A99EEE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084" y="5621026"/>
            <a:ext cx="11827823" cy="111560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23DF5F6-0C9E-179D-42C7-2E4930388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429157"/>
              </p:ext>
            </p:extLst>
          </p:nvPr>
        </p:nvGraphicFramePr>
        <p:xfrm>
          <a:off x="1002410" y="2680894"/>
          <a:ext cx="3764892" cy="2789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722">
                  <a:extLst>
                    <a:ext uri="{9D8B030D-6E8A-4147-A177-3AD203B41FA5}">
                      <a16:colId xmlns:a16="http://schemas.microsoft.com/office/drawing/2014/main" val="2640169562"/>
                    </a:ext>
                  </a:extLst>
                </a:gridCol>
                <a:gridCol w="1054170">
                  <a:extLst>
                    <a:ext uri="{9D8B030D-6E8A-4147-A177-3AD203B41FA5}">
                      <a16:colId xmlns:a16="http://schemas.microsoft.com/office/drawing/2014/main" val="2161186428"/>
                    </a:ext>
                  </a:extLst>
                </a:gridCol>
              </a:tblGrid>
              <a:tr h="686715">
                <a:tc>
                  <a:txBody>
                    <a:bodyPr/>
                    <a:lstStyle/>
                    <a:p>
                      <a:pPr marL="285750" indent="-285750" algn="ctr">
                        <a:buFont typeface="Wingdings" pitchFamily="2" charset="2"/>
                        <a:buChar char="q"/>
                      </a:pPr>
                      <a:r>
                        <a:rPr lang="en-IT" dirty="0"/>
                        <a:t>Not Normalized weights (v_k)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84498"/>
                  </a:ext>
                </a:extLst>
              </a:tr>
              <a:tr h="335767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v_k</a:t>
                      </a:r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926876"/>
                  </a:ext>
                </a:extLst>
              </a:tr>
              <a:tr h="335767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22812"/>
                  </a:ext>
                </a:extLst>
              </a:tr>
              <a:tr h="335767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750382"/>
                  </a:ext>
                </a:extLst>
              </a:tr>
              <a:tr h="335767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70329"/>
                  </a:ext>
                </a:extLst>
              </a:tr>
              <a:tr h="587592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Sum of No-normalized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03555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AF2DDF-FDFC-DCCE-543C-A0DF8D5FDB70}"/>
              </a:ext>
            </a:extLst>
          </p:cNvPr>
          <p:cNvCxnSpPr>
            <a:cxnSpLocks/>
          </p:cNvCxnSpPr>
          <p:nvPr/>
        </p:nvCxnSpPr>
        <p:spPr>
          <a:xfrm>
            <a:off x="5140448" y="4180928"/>
            <a:ext cx="13814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961499E-6288-0CDA-B139-441DEAEB3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523853"/>
              </p:ext>
            </p:extLst>
          </p:nvPr>
        </p:nvGraphicFramePr>
        <p:xfrm>
          <a:off x="6777552" y="2699506"/>
          <a:ext cx="4952094" cy="2752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047">
                  <a:extLst>
                    <a:ext uri="{9D8B030D-6E8A-4147-A177-3AD203B41FA5}">
                      <a16:colId xmlns:a16="http://schemas.microsoft.com/office/drawing/2014/main" val="3258095062"/>
                    </a:ext>
                  </a:extLst>
                </a:gridCol>
                <a:gridCol w="2476047">
                  <a:extLst>
                    <a:ext uri="{9D8B030D-6E8A-4147-A177-3AD203B41FA5}">
                      <a16:colId xmlns:a16="http://schemas.microsoft.com/office/drawing/2014/main" val="459504467"/>
                    </a:ext>
                  </a:extLst>
                </a:gridCol>
              </a:tblGrid>
              <a:tr h="632263">
                <a:tc>
                  <a:txBody>
                    <a:bodyPr/>
                    <a:lstStyle/>
                    <a:p>
                      <a:pPr marL="285750" indent="-285750" algn="ctr">
                        <a:buFont typeface="Wingdings" pitchFamily="2" charset="2"/>
                        <a:buChar char="q"/>
                      </a:pPr>
                      <a:r>
                        <a:rPr lang="en-IT" dirty="0"/>
                        <a:t>Normalized weights (w_k)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38813"/>
                  </a:ext>
                </a:extLst>
              </a:tr>
              <a:tr h="368113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  <a:r>
                        <a:rPr lang="en-IT" dirty="0"/>
                        <a:t>_k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472129"/>
                  </a:ext>
                </a:extLst>
              </a:tr>
              <a:tr h="368113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0.5/2 = 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884890"/>
                  </a:ext>
                </a:extLst>
              </a:tr>
              <a:tr h="368113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1/2  = 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871011"/>
                  </a:ext>
                </a:extLst>
              </a:tr>
              <a:tr h="368113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0.5/2 = 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950826"/>
                  </a:ext>
                </a:extLst>
              </a:tr>
              <a:tr h="577514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Sum of Normalized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= 1 (weights assumption respected)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7149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69B2C17-1074-1DEE-D3FA-3858FCD38D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448" y="184744"/>
            <a:ext cx="191110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rgbClr val="0070C0"/>
                </a:solidFill>
                <a:latin typeface="Copperplate Gothic Bold" panose="020E0705020206020404" pitchFamily="34" charset="77"/>
              </a:rPr>
              <a:t>CRITERION</a:t>
            </a:r>
            <a:r>
              <a:rPr lang="en-IT" dirty="0">
                <a:latin typeface="Copperplate Gothic Bold" panose="020E0705020206020404" pitchFamily="34" charset="77"/>
              </a:rPr>
              <a:t> </a:t>
            </a:r>
            <a:r>
              <a:rPr lang="en-IT" dirty="0">
                <a:solidFill>
                  <a:srgbClr val="0070C0"/>
                </a:solidFill>
                <a:latin typeface="Copperplate Gothic Bold" panose="020E0705020206020404" pitchFamily="34" charset="77"/>
              </a:rPr>
              <a:t>1</a:t>
            </a:r>
            <a:r>
              <a:rPr lang="en-IT" dirty="0">
                <a:latin typeface="Copperplate Gothic Bold" panose="020E0705020206020404" pitchFamily="34" charset="77"/>
              </a:rPr>
              <a:t>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97225F4-7BDF-D5F0-BC97-E13D1770E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556" y="692336"/>
            <a:ext cx="9440883" cy="173065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8" name="Picture 1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F812EFC-763F-FA1C-6DDE-08917C20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65" y="968856"/>
            <a:ext cx="6749063" cy="11776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2E067E-22D3-FA03-23F3-AD1934BA2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9" y="5734233"/>
            <a:ext cx="7772400" cy="939023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A93508-1DF8-D9AE-88AB-63926EE67538}"/>
              </a:ext>
            </a:extLst>
          </p:cNvPr>
          <p:cNvCxnSpPr>
            <a:cxnSpLocks/>
          </p:cNvCxnSpPr>
          <p:nvPr/>
        </p:nvCxnSpPr>
        <p:spPr>
          <a:xfrm>
            <a:off x="8263368" y="6203744"/>
            <a:ext cx="571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F6C7148-1093-F936-F242-C4E08B572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702" y="5728638"/>
            <a:ext cx="2877743" cy="94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7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DAD07-C429-566E-635A-D25AD0D9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81723375-6D6F-3E9F-E376-7ABEB5E71018}"/>
              </a:ext>
            </a:extLst>
          </p:cNvPr>
          <p:cNvSpPr/>
          <p:nvPr/>
        </p:nvSpPr>
        <p:spPr>
          <a:xfrm>
            <a:off x="7896469" y="2064584"/>
            <a:ext cx="4124112" cy="4545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9659DE0-0EC7-4419-C5DB-155F49BF3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7960" y="297080"/>
            <a:ext cx="4891817" cy="6378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C625F-5F80-BA0B-8D73-F7F3C48429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25067" y="77693"/>
            <a:ext cx="1911101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  <a:latin typeface="Copperplate Gothic Bold" panose="020E0705020206020404" pitchFamily="34" charset="77"/>
              </a:rPr>
              <a:t>CRITERION 2 </a:t>
            </a:r>
          </a:p>
        </p:txBody>
      </p:sp>
      <p:pic>
        <p:nvPicPr>
          <p:cNvPr id="5" name="Picture 4" descr="A number and a smile&#10;&#10;AI-generated content may be incorrect.">
            <a:extLst>
              <a:ext uri="{FF2B5EF4-FFF2-40B4-BE49-F238E27FC236}">
                <a16:creationId xmlns:a16="http://schemas.microsoft.com/office/drawing/2014/main" id="{75516AB5-3C9E-40A0-AD24-0B06BFDE5E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18" y="2185955"/>
            <a:ext cx="1168400" cy="355600"/>
          </a:xfrm>
          <a:prstGeom prst="rect">
            <a:avLst/>
          </a:prstGeom>
        </p:spPr>
      </p:pic>
      <p:pic>
        <p:nvPicPr>
          <p:cNvPr id="22" name="Picture 21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C11D21EE-46C0-4224-A2BC-0FB06FD53A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18" y="1416652"/>
            <a:ext cx="2758065" cy="547769"/>
          </a:xfrm>
          <a:prstGeom prst="rect">
            <a:avLst/>
          </a:prstGeom>
        </p:spPr>
      </p:pic>
      <p:pic>
        <p:nvPicPr>
          <p:cNvPr id="26" name="Picture 25" descr="A black and white math problem&#10;&#10;AI-generated content may be incorrect.">
            <a:extLst>
              <a:ext uri="{FF2B5EF4-FFF2-40B4-BE49-F238E27FC236}">
                <a16:creationId xmlns:a16="http://schemas.microsoft.com/office/drawing/2014/main" id="{FE7621E7-B343-D47C-793A-945C328057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997" y="2878606"/>
            <a:ext cx="1358900" cy="431800"/>
          </a:xfrm>
          <a:prstGeom prst="rect">
            <a:avLst/>
          </a:prstGeom>
        </p:spPr>
      </p:pic>
      <p:pic>
        <p:nvPicPr>
          <p:cNvPr id="33" name="Picture 3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B38C9B8D-EC46-E3E4-9FAD-730F6C1CE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21" y="4550441"/>
            <a:ext cx="4549309" cy="2001729"/>
          </a:xfrm>
          <a:prstGeom prst="rect">
            <a:avLst/>
          </a:prstGeom>
        </p:spPr>
      </p:pic>
      <p:pic>
        <p:nvPicPr>
          <p:cNvPr id="35" name="Picture 3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B8FDAE5-5759-5CED-51D0-8BF93C1163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4834" y="3951196"/>
            <a:ext cx="1391017" cy="642589"/>
          </a:xfrm>
          <a:prstGeom prst="rect">
            <a:avLst/>
          </a:prstGeom>
        </p:spPr>
      </p:pic>
      <p:pic>
        <p:nvPicPr>
          <p:cNvPr id="43" name="Picture 4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2EDE19-2975-0E24-7C89-0D6B9779EF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158" y="2483766"/>
            <a:ext cx="4549310" cy="200172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41D181-301A-DDC1-156E-E036B8D9867F}"/>
              </a:ext>
            </a:extLst>
          </p:cNvPr>
          <p:cNvCxnSpPr>
            <a:cxnSpLocks/>
          </p:cNvCxnSpPr>
          <p:nvPr/>
        </p:nvCxnSpPr>
        <p:spPr>
          <a:xfrm flipV="1">
            <a:off x="3135237" y="3094506"/>
            <a:ext cx="2334346" cy="784763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41FEC0A-9A2A-4789-DEA1-98ED67F8CDCA}"/>
              </a:ext>
            </a:extLst>
          </p:cNvPr>
          <p:cNvCxnSpPr>
            <a:cxnSpLocks/>
          </p:cNvCxnSpPr>
          <p:nvPr/>
        </p:nvCxnSpPr>
        <p:spPr>
          <a:xfrm flipV="1">
            <a:off x="2308708" y="2363755"/>
            <a:ext cx="3080658" cy="854021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6727787-07A2-A5EF-0ED0-E793AA302DD9}"/>
              </a:ext>
            </a:extLst>
          </p:cNvPr>
          <p:cNvCxnSpPr>
            <a:cxnSpLocks/>
          </p:cNvCxnSpPr>
          <p:nvPr/>
        </p:nvCxnSpPr>
        <p:spPr>
          <a:xfrm flipV="1">
            <a:off x="3355996" y="4394120"/>
            <a:ext cx="1914653" cy="399333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0ECF66A5-A69B-2B1A-3CB0-9F9C717559FC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685561114"/>
              </p:ext>
            </p:extLst>
          </p:nvPr>
        </p:nvGraphicFramePr>
        <p:xfrm>
          <a:off x="8076226" y="2541555"/>
          <a:ext cx="380010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500">
                  <a:extLst>
                    <a:ext uri="{9D8B030D-6E8A-4147-A177-3AD203B41FA5}">
                      <a16:colId xmlns:a16="http://schemas.microsoft.com/office/drawing/2014/main" val="1641035067"/>
                    </a:ext>
                  </a:extLst>
                </a:gridCol>
                <a:gridCol w="2021606">
                  <a:extLst>
                    <a:ext uri="{9D8B030D-6E8A-4147-A177-3AD203B41FA5}">
                      <a16:colId xmlns:a16="http://schemas.microsoft.com/office/drawing/2014/main" val="1831568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Quantile 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Density Value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504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-0.6744898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0.3177766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70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0.3989423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06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0.6744898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0.3177766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822005"/>
                  </a:ext>
                </a:extLst>
              </a:tr>
            </a:tbl>
          </a:graphicData>
        </a:graphic>
      </p:graphicFrame>
      <p:pic>
        <p:nvPicPr>
          <p:cNvPr id="73" name="Picture 7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ADA379F-A231-D327-45BD-73D8B50B93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6177" y="4593785"/>
            <a:ext cx="3907863" cy="1260749"/>
          </a:xfrm>
          <a:prstGeom prst="rect">
            <a:avLst/>
          </a:prstGeom>
        </p:spPr>
      </p:pic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D6E435F5-6525-40AF-3C7E-935470E7B4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100" y="362027"/>
            <a:ext cx="3598222" cy="2001728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36B67B0-DA7E-AC59-2927-478B37B18FC9}"/>
              </a:ext>
            </a:extLst>
          </p:cNvPr>
          <p:cNvSpPr/>
          <p:nvPr/>
        </p:nvSpPr>
        <p:spPr>
          <a:xfrm>
            <a:off x="6750325" y="810778"/>
            <a:ext cx="1490335" cy="427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rgbClr val="FFC000"/>
                </a:solidFill>
              </a:rPr>
              <a:t>OBJECTIVE</a:t>
            </a:r>
            <a:endParaRPr lang="en-IT" dirty="0"/>
          </a:p>
        </p:txBody>
      </p:sp>
      <p:pic>
        <p:nvPicPr>
          <p:cNvPr id="13" name="Picture 12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F9E4B842-3BA4-09B8-4A2F-A8B630B243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9618" y="773352"/>
            <a:ext cx="945699" cy="543138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DAF5EFA-1D3A-104F-B19C-665EB3E9B782}"/>
              </a:ext>
            </a:extLst>
          </p:cNvPr>
          <p:cNvCxnSpPr>
            <a:cxnSpLocks/>
          </p:cNvCxnSpPr>
          <p:nvPr/>
        </p:nvCxnSpPr>
        <p:spPr>
          <a:xfrm flipV="1">
            <a:off x="1888177" y="1883315"/>
            <a:ext cx="3695572" cy="1013351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42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7BA5C-A9E0-4329-5356-6E8310AD30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3000" y="1889696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CQR(mean)</a:t>
            </a:r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F45C0DF-E582-FAC3-6EED-5B952EAD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111" y="3094337"/>
            <a:ext cx="7188199" cy="2012696"/>
          </a:xfrm>
          <a:prstGeom prst="rect">
            <a:avLst/>
          </a:prstGeom>
        </p:spPr>
      </p:pic>
      <p:pic>
        <p:nvPicPr>
          <p:cNvPr id="12" name="Picture 11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F228B577-18CF-2511-D6D3-F2CD9FACDA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111" y="707481"/>
            <a:ext cx="3962400" cy="106680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C07C07-FECE-6AAA-8286-A163B348B05C}"/>
              </a:ext>
            </a:extLst>
          </p:cNvPr>
          <p:cNvSpPr/>
          <p:nvPr/>
        </p:nvSpPr>
        <p:spPr>
          <a:xfrm>
            <a:off x="9286504" y="676894"/>
            <a:ext cx="2636322" cy="996767"/>
          </a:xfrm>
          <a:prstGeom prst="roundRect">
            <a:avLst/>
          </a:prstGeom>
          <a:solidFill>
            <a:schemeClr val="accent1">
              <a:alpha val="7977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rgbClr val="FFC000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Objective</a:t>
            </a:r>
            <a:r>
              <a:rPr lang="en-IT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: determine a single vector of coefficients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436E1D-E4BC-E8FC-44C8-AA33A7215C0B}"/>
              </a:ext>
            </a:extLst>
          </p:cNvPr>
          <p:cNvCxnSpPr/>
          <p:nvPr/>
        </p:nvCxnSpPr>
        <p:spPr>
          <a:xfrm>
            <a:off x="8217725" y="1175277"/>
            <a:ext cx="629392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351B8-86C7-CD6E-0D0F-50F026BA944D}"/>
              </a:ext>
            </a:extLst>
          </p:cNvPr>
          <p:cNvSpPr txBox="1"/>
          <p:nvPr/>
        </p:nvSpPr>
        <p:spPr>
          <a:xfrm>
            <a:off x="5906215" y="2725005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AN ALTERNATIVE STRATEGY</a:t>
            </a:r>
          </a:p>
        </p:txBody>
      </p:sp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72145F-CDC3-A3C2-E5EE-561CC39A0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071" y="5286974"/>
            <a:ext cx="53467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6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E265E6-D012-42B3-A7DE-C8FEED40D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24917" y="3131936"/>
            <a:ext cx="1240640" cy="1240638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B9A5AE-0A9C-4EB1-9569-A44D89EFC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0306" y="4546924"/>
            <a:ext cx="2369988" cy="2311077"/>
          </a:xfrm>
          <a:custGeom>
            <a:avLst/>
            <a:gdLst>
              <a:gd name="connsiteX0" fmla="*/ 0 w 2369988"/>
              <a:gd name="connsiteY0" fmla="*/ 0 h 2311077"/>
              <a:gd name="connsiteX1" fmla="*/ 1128071 w 2369988"/>
              <a:gd name="connsiteY1" fmla="*/ 0 h 2311077"/>
              <a:gd name="connsiteX2" fmla="*/ 1157716 w 2369988"/>
              <a:gd name="connsiteY2" fmla="*/ 128440 h 2311077"/>
              <a:gd name="connsiteX3" fmla="*/ 2316462 w 2369988"/>
              <a:gd name="connsiteY3" fmla="*/ 2257392 h 2311077"/>
              <a:gd name="connsiteX4" fmla="*/ 2369988 w 2369988"/>
              <a:gd name="connsiteY4" fmla="*/ 2311077 h 2311077"/>
              <a:gd name="connsiteX5" fmla="*/ 957894 w 2369988"/>
              <a:gd name="connsiteY5" fmla="*/ 2311077 h 2311077"/>
              <a:gd name="connsiteX6" fmla="*/ 777804 w 2369988"/>
              <a:gd name="connsiteY6" fmla="*/ 2040997 h 2311077"/>
              <a:gd name="connsiteX7" fmla="*/ 19614 w 2369988"/>
              <a:gd name="connsiteY7" fmla="*/ 109827 h 231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988" h="2311077">
                <a:moveTo>
                  <a:pt x="0" y="0"/>
                </a:moveTo>
                <a:lnTo>
                  <a:pt x="1128071" y="0"/>
                </a:lnTo>
                <a:lnTo>
                  <a:pt x="1157716" y="128440"/>
                </a:lnTo>
                <a:cubicBezTo>
                  <a:pt x="1365270" y="935139"/>
                  <a:pt x="1769588" y="1662859"/>
                  <a:pt x="2316462" y="2257392"/>
                </a:cubicBezTo>
                <a:lnTo>
                  <a:pt x="2369988" y="2311077"/>
                </a:lnTo>
                <a:lnTo>
                  <a:pt x="957894" y="2311077"/>
                </a:lnTo>
                <a:lnTo>
                  <a:pt x="777804" y="2040997"/>
                </a:lnTo>
                <a:cubicBezTo>
                  <a:pt x="421651" y="1454849"/>
                  <a:pt x="161627" y="803832"/>
                  <a:pt x="19614" y="10982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lose-up of a sign&#10;&#10;AI-generated content may be incorrect.">
            <a:extLst>
              <a:ext uri="{FF2B5EF4-FFF2-40B4-BE49-F238E27FC236}">
                <a16:creationId xmlns:a16="http://schemas.microsoft.com/office/drawing/2014/main" id="{E50D725D-A67E-2E7A-7D24-056F034763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324350" y="2713502"/>
            <a:ext cx="6896376" cy="1430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C12216-56F1-216F-1AD4-9152C21552C0}"/>
              </a:ext>
            </a:extLst>
          </p:cNvPr>
          <p:cNvSpPr txBox="1"/>
          <p:nvPr/>
        </p:nvSpPr>
        <p:spPr>
          <a:xfrm>
            <a:off x="5389962" y="2034078"/>
            <a:ext cx="47651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3000" dirty="0">
                <a:solidFill>
                  <a:schemeClr val="bg1"/>
                </a:solidFill>
                <a:latin typeface="Copperplate Gothic Bold" panose="020E0705020206020404" pitchFamily="34" charset="77"/>
              </a:rPr>
              <a:t>SHORT COMPARISON</a:t>
            </a:r>
          </a:p>
        </p:txBody>
      </p:sp>
    </p:spTree>
    <p:extLst>
      <p:ext uri="{BB962C8B-B14F-4D97-AF65-F5344CB8AC3E}">
        <p14:creationId xmlns:p14="http://schemas.microsoft.com/office/powerpoint/2010/main" val="275388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806AF2-1EE9-D14B-9E13-25D0491C65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107" y="1603169"/>
            <a:ext cx="11908472" cy="508263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F8A7E-A999-0069-46F4-ABAF457E82D8}"/>
              </a:ext>
            </a:extLst>
          </p:cNvPr>
          <p:cNvSpPr txBox="1"/>
          <p:nvPr/>
        </p:nvSpPr>
        <p:spPr>
          <a:xfrm>
            <a:off x="2684881" y="326549"/>
            <a:ext cx="681918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dirty="0">
                <a:solidFill>
                  <a:schemeClr val="bg1"/>
                </a:solidFill>
                <a:latin typeface="Copperplate Gothic Bold" panose="020E0705020206020404" pitchFamily="34" charset="77"/>
                <a:ea typeface="+mj-ea"/>
                <a:cs typeface="+mj-cs"/>
              </a:rPr>
              <a:t>MSE CALCULATION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CBE3A6-5B29-F1D0-CA1B-53521E7C34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98181" y="2560033"/>
            <a:ext cx="2237746" cy="5428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Setting part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2759CA6-D188-B485-919E-722F32A9D4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70457" y="2252668"/>
            <a:ext cx="1009403" cy="522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Core </a:t>
            </a:r>
          </a:p>
        </p:txBody>
      </p:sp>
      <p:pic>
        <p:nvPicPr>
          <p:cNvPr id="22" name="Picture 2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745ACF6-036E-C5C2-0CEE-B1F0722F4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844" y="2947048"/>
            <a:ext cx="5600630" cy="3346376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55D454-EDDC-5DC6-6600-05190A404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14" y="3352589"/>
            <a:ext cx="5828261" cy="2535293"/>
          </a:xfrm>
          <a:prstGeom prst="rect">
            <a:avLst/>
          </a:prstGeom>
        </p:spPr>
      </p:pic>
      <p:pic>
        <p:nvPicPr>
          <p:cNvPr id="32" name="Picture 3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8065424E-8396-96B2-FF55-04048259E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349" y="2333936"/>
            <a:ext cx="1384300" cy="3302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7A3C08-B133-E4B5-8EC0-12C762D85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0792" y="5663390"/>
            <a:ext cx="1476918" cy="448983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B4179E-9147-EB10-950A-835F0456A713}"/>
              </a:ext>
            </a:extLst>
          </p:cNvPr>
          <p:cNvCxnSpPr/>
          <p:nvPr/>
        </p:nvCxnSpPr>
        <p:spPr>
          <a:xfrm flipV="1">
            <a:off x="9250878" y="5887882"/>
            <a:ext cx="878774" cy="19228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36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AEEE348F-535E-5F23-2632-4D9C98F3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5" y="591621"/>
            <a:ext cx="2806700" cy="11303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4A3F5C-E9F9-0D9B-DE04-EA3CBCC49E35}"/>
              </a:ext>
            </a:extLst>
          </p:cNvPr>
          <p:cNvCxnSpPr>
            <a:cxnSpLocks/>
          </p:cNvCxnSpPr>
          <p:nvPr/>
        </p:nvCxnSpPr>
        <p:spPr>
          <a:xfrm>
            <a:off x="3526167" y="1490599"/>
            <a:ext cx="727177" cy="575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210EBCE7-2B3B-EF10-4576-FF5BD4296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344" y="2204110"/>
            <a:ext cx="2349500" cy="6477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F8F6EC-E89E-9426-3620-F890490BBF0C}"/>
              </a:ext>
            </a:extLst>
          </p:cNvPr>
          <p:cNvCxnSpPr>
            <a:cxnSpLocks/>
          </p:cNvCxnSpPr>
          <p:nvPr/>
        </p:nvCxnSpPr>
        <p:spPr>
          <a:xfrm flipH="1">
            <a:off x="4077195" y="2925286"/>
            <a:ext cx="316675" cy="503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B5B091C5-92FA-3EBC-9C7B-EDD4467B8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995" y="4608288"/>
            <a:ext cx="1727200" cy="4826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100B79-BB9F-6355-0457-24DF4B9E40A5}"/>
              </a:ext>
            </a:extLst>
          </p:cNvPr>
          <p:cNvCxnSpPr>
            <a:cxnSpLocks/>
          </p:cNvCxnSpPr>
          <p:nvPr/>
        </p:nvCxnSpPr>
        <p:spPr>
          <a:xfrm flipH="1">
            <a:off x="3335482" y="4069073"/>
            <a:ext cx="381371" cy="389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50B250-0CDB-AD48-DA49-400EED110DEF}"/>
              </a:ext>
            </a:extLst>
          </p:cNvPr>
          <p:cNvCxnSpPr>
            <a:cxnSpLocks/>
          </p:cNvCxnSpPr>
          <p:nvPr/>
        </p:nvCxnSpPr>
        <p:spPr>
          <a:xfrm>
            <a:off x="4595751" y="2925286"/>
            <a:ext cx="391885" cy="503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4AFA1A7D-95FA-F1DA-22C5-6D96A273D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167" y="3522440"/>
            <a:ext cx="2120900" cy="457200"/>
          </a:xfrm>
          <a:prstGeom prst="rect">
            <a:avLst/>
          </a:prstGeom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B399B74-99BF-9979-3EE8-31D6B717D465}"/>
              </a:ext>
            </a:extLst>
          </p:cNvPr>
          <p:cNvSpPr/>
          <p:nvPr/>
        </p:nvSpPr>
        <p:spPr>
          <a:xfrm>
            <a:off x="3881251" y="758289"/>
            <a:ext cx="2212769" cy="5343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Initial Formula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97EAFB8-9325-18C9-57A9-8CD300144F97}"/>
              </a:ext>
            </a:extLst>
          </p:cNvPr>
          <p:cNvSpPr/>
          <p:nvPr/>
        </p:nvSpPr>
        <p:spPr>
          <a:xfrm>
            <a:off x="7093116" y="2345623"/>
            <a:ext cx="1923803" cy="4156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TOT Errors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8155D4-2914-6EE7-3B4F-1A353A34194C}"/>
              </a:ext>
            </a:extLst>
          </p:cNvPr>
          <p:cNvSpPr/>
          <p:nvPr/>
        </p:nvSpPr>
        <p:spPr>
          <a:xfrm>
            <a:off x="5428094" y="4553615"/>
            <a:ext cx="1721922" cy="614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rgbClr val="FFC000"/>
                </a:solidFill>
              </a:rPr>
              <a:t>Stability or Instability 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A3024A-9AB3-AED2-3D6F-65D66B221CE6}"/>
              </a:ext>
            </a:extLst>
          </p:cNvPr>
          <p:cNvCxnSpPr/>
          <p:nvPr/>
        </p:nvCxnSpPr>
        <p:spPr>
          <a:xfrm>
            <a:off x="4970484" y="4019223"/>
            <a:ext cx="685717" cy="389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62475AF-0E9E-4DA6-C951-7587A7737BEE}"/>
              </a:ext>
            </a:extLst>
          </p:cNvPr>
          <p:cNvSpPr txBox="1"/>
          <p:nvPr/>
        </p:nvSpPr>
        <p:spPr>
          <a:xfrm>
            <a:off x="7267698" y="329923"/>
            <a:ext cx="4439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opperplate Gothic Bold" panose="020E0705020206020404" pitchFamily="34" charset="77"/>
                <a:cs typeface="Adelle Sans Devanagari" panose="02000503000000020004" pitchFamily="2" charset="-78"/>
              </a:rPr>
              <a:t>Decomposition</a:t>
            </a:r>
            <a:endParaRPr lang="en-IT" sz="4000" dirty="0">
              <a:solidFill>
                <a:schemeClr val="bg1"/>
              </a:solidFill>
              <a:latin typeface="Copperplate Gothic Bold" panose="020E0705020206020404" pitchFamily="34" charset="77"/>
              <a:cs typeface="Adelle Sans Devanagari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18017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15916F-369B-42A3-0941-C67FA4B9C345}"/>
              </a:ext>
            </a:extLst>
          </p:cNvPr>
          <p:cNvSpPr txBox="1"/>
          <p:nvPr/>
        </p:nvSpPr>
        <p:spPr>
          <a:xfrm>
            <a:off x="917273" y="221673"/>
            <a:ext cx="1035745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i="0" u="none" strike="noStrike" dirty="0">
                <a:solidFill>
                  <a:srgbClr val="0070C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Normal Distribution Results: MSE Comparison</a:t>
            </a:r>
          </a:p>
          <a:p>
            <a:endParaRPr lang="en-IT" sz="35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44654650-B7A0-715E-92F5-142C6A1952EF}"/>
              </a:ext>
            </a:extLst>
          </p:cNvPr>
          <p:cNvSpPr/>
          <p:nvPr/>
        </p:nvSpPr>
        <p:spPr>
          <a:xfrm>
            <a:off x="277091" y="890649"/>
            <a:ext cx="11637817" cy="5581402"/>
          </a:xfrm>
          <a:prstGeom prst="frame">
            <a:avLst/>
          </a:prstGeom>
          <a:solidFill>
            <a:schemeClr val="tx2">
              <a:lumMod val="50000"/>
              <a:lumOff val="50000"/>
            </a:schemeClr>
          </a:solidFill>
          <a:ln w="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D4D5CC-B833-617E-38CC-6E57A38E5313}"/>
                  </a:ext>
                </a:extLst>
              </p:cNvPr>
              <p:cNvSpPr txBox="1"/>
              <p:nvPr/>
            </p:nvSpPr>
            <p:spPr>
              <a:xfrm>
                <a:off x="1108364" y="2297526"/>
                <a:ext cx="4987637" cy="4599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v"/>
                </a:pPr>
                <a:r>
                  <a:rPr lang="en-US" sz="2000" baseline="-25000" dirty="0"/>
                  <a:t>The weights are equal for all the quantile</a:t>
                </a:r>
              </a:p>
              <a:p>
                <a:endParaRPr lang="en-US" sz="2000" baseline="-25000" dirty="0"/>
              </a:p>
              <a:p>
                <a:pPr marL="0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MSE=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it-IT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it-IT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it-IT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)^2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v"/>
                </a:pPr>
                <a:r>
                  <a:rPr lang="en-US" sz="2000" dirty="0">
                    <a:ea typeface="Cambria Math" panose="02040503050406030204" pitchFamily="18" charset="0"/>
                  </a:rPr>
                  <a:t>Beta =1 -&gt; the true value</a:t>
                </a:r>
              </a:p>
              <a:p>
                <a:pPr marL="342900" indent="-342900">
                  <a:buFont typeface="Wingdings" pitchFamily="2" charset="2"/>
                  <a:buChar char="v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v"/>
                </a:pPr>
                <a:r>
                  <a:rPr lang="en-US" sz="2000" dirty="0">
                    <a:ea typeface="Cambria Math" panose="02040503050406030204" pitchFamily="18" charset="0"/>
                  </a:rPr>
                  <a:t>M=1000 the number of simulation</a:t>
                </a:r>
              </a:p>
              <a:p>
                <a:pPr marL="342900" indent="-342900">
                  <a:buFont typeface="Wingdings" pitchFamily="2" charset="2"/>
                  <a:buChar char="v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v"/>
                </a:pPr>
                <a:r>
                  <a:rPr lang="en-US" sz="2000" dirty="0">
                    <a:ea typeface="Cambria Math" panose="02040503050406030204" pitchFamily="18" charset="0"/>
                  </a:rPr>
                  <a:t>MSE measures accuracy and consistency of each estimator</a:t>
                </a:r>
              </a:p>
              <a:p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v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v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v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endParaRPr lang="en-IT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D4D5CC-B833-617E-38CC-6E57A38E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64" y="2297526"/>
                <a:ext cx="4987637" cy="4599849"/>
              </a:xfrm>
              <a:prstGeom prst="rect">
                <a:avLst/>
              </a:prstGeom>
              <a:blipFill>
                <a:blip r:embed="rId2"/>
                <a:stretch>
                  <a:fillRect l="-1015" t="-220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4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4A4C245C-B120-0583-217C-A00FB7C36A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643" y="2114062"/>
            <a:ext cx="5366161" cy="16511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F53269-DB59-19A8-191A-FECA60477A6B}"/>
              </a:ext>
            </a:extLst>
          </p:cNvPr>
          <p:cNvSpPr txBox="1"/>
          <p:nvPr/>
        </p:nvSpPr>
        <p:spPr>
          <a:xfrm>
            <a:off x="5794084" y="3967174"/>
            <a:ext cx="5178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All 3 methods produce robust and accurate estimates of beta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Composite quantile regression performs better in terms of MSE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From the table we can see that CQR is the best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812DE1-5411-011E-58AF-B991DABC9707}"/>
              </a:ext>
            </a:extLst>
          </p:cNvPr>
          <p:cNvCxnSpPr/>
          <p:nvPr/>
        </p:nvCxnSpPr>
        <p:spPr>
          <a:xfrm>
            <a:off x="5430491" y="2122256"/>
            <a:ext cx="0" cy="2905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338A09-1D5E-E619-FA05-B63B3BFA83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94586" y="1173495"/>
            <a:ext cx="3451762" cy="548275"/>
          </a:xfrm>
          <a:prstGeom prst="roundRect">
            <a:avLst/>
          </a:prstGeom>
          <a:solidFill>
            <a:schemeClr val="accent1">
              <a:alpha val="697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MSE-Marginal Squared Error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F995A0-F44C-5F9A-A22D-1412965FAC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63842" y="1199387"/>
            <a:ext cx="3451762" cy="548275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97512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E16F9DFD-E740-E8D3-7D6A-E40B0BA92E85}"/>
              </a:ext>
            </a:extLst>
          </p:cNvPr>
          <p:cNvSpPr txBox="1">
            <a:spLocks/>
          </p:cNvSpPr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/>
            <a:r>
              <a:rPr lang="en-US" sz="2200" dirty="0">
                <a:latin typeface="AkayaTelivigala" pitchFamily="2" charset="77"/>
                <a:cs typeface="AkayaTelivigala" pitchFamily="2" charset="77"/>
              </a:rPr>
              <a:t>Expected value and variance and undefined.</a:t>
            </a:r>
          </a:p>
          <a:p>
            <a:pPr marL="285750"/>
            <a:r>
              <a:rPr lang="en-US" sz="2200" dirty="0">
                <a:latin typeface="AkayaTelivigala" pitchFamily="2" charset="77"/>
                <a:cs typeface="AkayaTelivigala" pitchFamily="2" charset="77"/>
              </a:rPr>
              <a:t>Help to evaluate the ROBUSTNESS of the estimator respect to the presence of extreme value</a:t>
            </a:r>
          </a:p>
          <a:p>
            <a:pPr marL="285750"/>
            <a:r>
              <a:rPr lang="en-US" sz="2200" dirty="0">
                <a:latin typeface="AkayaTelivigala" pitchFamily="2" charset="77"/>
                <a:cs typeface="AkayaTelivigala" pitchFamily="2" charset="77"/>
              </a:rPr>
              <a:t>Ols performs poorly</a:t>
            </a:r>
          </a:p>
          <a:p>
            <a:pPr marL="285750"/>
            <a:r>
              <a:rPr lang="en-US" sz="2200" dirty="0">
                <a:latin typeface="AkayaTelivigala" pitchFamily="2" charset="77"/>
                <a:cs typeface="AkayaTelivigala" pitchFamily="2" charset="77"/>
              </a:rPr>
              <a:t>QR is more suitable</a:t>
            </a:r>
          </a:p>
        </p:txBody>
      </p:sp>
      <p:pic>
        <p:nvPicPr>
          <p:cNvPr id="7" name="Picture 6" descr="A portrait of a person&#10;&#10;AI-generated content may be incorrect.">
            <a:extLst>
              <a:ext uri="{FF2B5EF4-FFF2-40B4-BE49-F238E27FC236}">
                <a16:creationId xmlns:a16="http://schemas.microsoft.com/office/drawing/2014/main" id="{C93E183A-CCA5-E010-2CCE-FDA1BDE76E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70070"/>
            <a:ext cx="6903720" cy="391786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E2F112-0BEC-97BD-192F-A5EA5CB231D7}"/>
              </a:ext>
            </a:extLst>
          </p:cNvPr>
          <p:cNvSpPr/>
          <p:nvPr/>
        </p:nvSpPr>
        <p:spPr>
          <a:xfrm>
            <a:off x="373242" y="798125"/>
            <a:ext cx="4281054" cy="1343890"/>
          </a:xfrm>
          <a:prstGeom prst="roundRect">
            <a:avLst/>
          </a:prstGeom>
          <a:solidFill>
            <a:schemeClr val="accent1">
              <a:alpha val="699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Cauchy Distribution : Testing Robustness</a:t>
            </a:r>
          </a:p>
        </p:txBody>
      </p:sp>
    </p:spTree>
    <p:extLst>
      <p:ext uri="{BB962C8B-B14F-4D97-AF65-F5344CB8AC3E}">
        <p14:creationId xmlns:p14="http://schemas.microsoft.com/office/powerpoint/2010/main" val="149111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016CFE-7015-FFE8-4A9A-55A77FCB54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835" y="2346612"/>
            <a:ext cx="6827438" cy="4369185"/>
          </a:xfrm>
          <a:prstGeom prst="roundRect">
            <a:avLst/>
          </a:prstGeom>
          <a:solidFill>
            <a:schemeClr val="accent1">
              <a:alpha val="4483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9D2D520-CEB2-17A4-FBDE-29987836FA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62800" y="2346613"/>
            <a:ext cx="4929365" cy="4369184"/>
          </a:xfrm>
          <a:prstGeom prst="roundRect">
            <a:avLst/>
          </a:prstGeom>
          <a:solidFill>
            <a:schemeClr val="accent1">
              <a:alpha val="4483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88047-7E36-ADDB-B4F6-46860398105B}"/>
              </a:ext>
            </a:extLst>
          </p:cNvPr>
          <p:cNvSpPr txBox="1"/>
          <p:nvPr/>
        </p:nvSpPr>
        <p:spPr>
          <a:xfrm>
            <a:off x="4522519" y="142200"/>
            <a:ext cx="2137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4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Set Up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9C5281-240E-FE7F-DC82-6C5780D13905}"/>
              </a:ext>
            </a:extLst>
          </p:cNvPr>
          <p:cNvSpPr/>
          <p:nvPr/>
        </p:nvSpPr>
        <p:spPr>
          <a:xfrm>
            <a:off x="712519" y="1155381"/>
            <a:ext cx="2351315" cy="961901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800" dirty="0"/>
              <a:t>Objective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676006-4E85-C033-B513-D5F07A5390F9}"/>
              </a:ext>
            </a:extLst>
          </p:cNvPr>
          <p:cNvCxnSpPr/>
          <p:nvPr/>
        </p:nvCxnSpPr>
        <p:spPr>
          <a:xfrm>
            <a:off x="3471990" y="1636331"/>
            <a:ext cx="1318161" cy="0"/>
          </a:xfrm>
          <a:prstGeom prst="straightConnector1">
            <a:avLst/>
          </a:prstGeom>
          <a:ln>
            <a:solidFill>
              <a:schemeClr val="bg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2">
            <a:extLst>
              <a:ext uri="{FF2B5EF4-FFF2-40B4-BE49-F238E27FC236}">
                <a16:creationId xmlns:a16="http://schemas.microsoft.com/office/drawing/2014/main" id="{416140BA-23D7-DFB7-5435-F3AD9A5C2483}"/>
              </a:ext>
            </a:extLst>
          </p:cNvPr>
          <p:cNvSpPr txBox="1"/>
          <p:nvPr/>
        </p:nvSpPr>
        <p:spPr>
          <a:xfrm>
            <a:off x="5375563" y="1146283"/>
            <a:ext cx="5874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+mj-lt"/>
                <a:cs typeface="Adelle Sans Devanagari" panose="02000503000000020004" pitchFamily="2" charset="-78"/>
              </a:rPr>
              <a:t>Evaluate the robustness of the quantile regression estimators under heavy-tailed.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+mj-lt"/>
                <a:cs typeface="Adelle Sans Devanagari" panose="02000503000000020004" pitchFamily="2" charset="-78"/>
              </a:rPr>
              <a:t>Compare the results with the previous normal 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F7E24D-6309-48CD-2796-BBC7B1DE86C2}"/>
              </a:ext>
            </a:extLst>
          </p:cNvPr>
          <p:cNvSpPr txBox="1"/>
          <p:nvPr/>
        </p:nvSpPr>
        <p:spPr>
          <a:xfrm>
            <a:off x="283902" y="2642810"/>
            <a:ext cx="63761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000" b="1" i="0" u="none" strike="noStrike" dirty="0">
                <a:solidFill>
                  <a:srgbClr val="92D050"/>
                </a:solidFill>
                <a:effectLst/>
              </a:rPr>
              <a:t>Simulation Parameters</a:t>
            </a:r>
          </a:p>
          <a:p>
            <a:pPr algn="l">
              <a:buNone/>
            </a:pP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For the Cauchy distribution analysis, we maintain consistent methodology while changing only the error distribution: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Error term follows a Cauchy distribution with location parameter = 0</a:t>
            </a:r>
          </a:p>
          <a:p>
            <a:pPr algn="l"/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Scale parameter = 1 (determines the width of the distribution)</a:t>
            </a:r>
          </a:p>
          <a:p>
            <a:pPr algn="l"/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True slope coefficient </a:t>
            </a:r>
            <a:r>
              <a:rPr lang="el-GR" b="0" i="0" u="none" strike="noStrike" dirty="0">
                <a:solidFill>
                  <a:schemeClr val="bg1"/>
                </a:solidFill>
                <a:effectLst/>
              </a:rPr>
              <a:t>β 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remains unchanged from the normal case</a:t>
            </a:r>
          </a:p>
          <a:p>
            <a:pPr algn="l"/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Same number of simulation iterations to ensure comparability</a:t>
            </a:r>
          </a:p>
          <a:p>
            <a:endParaRPr lang="en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6D6E0-8BDA-F249-BCEA-57F0F4EE3E78}"/>
              </a:ext>
            </a:extLst>
          </p:cNvPr>
          <p:cNvSpPr txBox="1"/>
          <p:nvPr/>
        </p:nvSpPr>
        <p:spPr>
          <a:xfrm>
            <a:off x="7350389" y="2642810"/>
            <a:ext cx="47417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92D050"/>
                </a:solidFill>
                <a:effectLst/>
              </a:rPr>
              <a:t>Estimation Criteria</a:t>
            </a:r>
          </a:p>
          <a:p>
            <a:pPr algn="l">
              <a:buNone/>
            </a:pPr>
            <a:endParaRPr lang="en-US" b="1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We apply identical estimation methods as in the normal case:</a:t>
            </a:r>
          </a:p>
          <a:p>
            <a:pPr algn="l">
              <a:buNone/>
            </a:pPr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Criterion 1: Symmetric weights </a:t>
            </a:r>
            <a:r>
              <a:rPr lang="el-GR" b="0" i="0" u="none" strike="noStrike" dirty="0">
                <a:solidFill>
                  <a:schemeClr val="bg1"/>
                </a:solidFill>
                <a:effectLst/>
              </a:rPr>
              <a:t>τ = (0.25, 0.5, 0.25)</a:t>
            </a:r>
            <a:endParaRPr lang="it-IT" b="0" i="0" u="none" strike="noStrike" dirty="0">
              <a:solidFill>
                <a:schemeClr val="bg1"/>
              </a:solidFill>
              <a:effectLst/>
            </a:endParaRPr>
          </a:p>
          <a:p>
            <a:pPr algn="l"/>
            <a:endParaRPr lang="el-GR" b="0" i="0" u="none" strike="noStrike" dirty="0">
              <a:solidFill>
                <a:schemeClr val="bg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Criterion Criterion 2: Efficiency-based weights </a:t>
            </a:r>
            <a:r>
              <a:rPr lang="el-GR" dirty="0">
                <a:solidFill>
                  <a:schemeClr val="bg1"/>
                </a:solidFill>
              </a:rPr>
              <a:t>τ = (0.3240, 0.3533, 0.3239)</a:t>
            </a:r>
            <a:endParaRPr lang="it-IT" dirty="0">
              <a:solidFill>
                <a:schemeClr val="bg1"/>
              </a:solidFill>
            </a:endParaRPr>
          </a:p>
          <a:p>
            <a:endParaRPr lang="el-GR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CQR using simple averaging of three quantile estimates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08378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424B6-79C1-9F09-2583-8D1FDE741EFA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lower MSE means a better accuracy !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Criterion1 perform better, is the most robust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Criterion 2 and CQR still perform well, but with some error</a:t>
            </a:r>
          </a:p>
        </p:txBody>
      </p:sp>
      <p:pic>
        <p:nvPicPr>
          <p:cNvPr id="7" name="Immagine 4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A6E918FD-367D-1158-A76A-52693D4749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291737"/>
            <a:ext cx="10917936" cy="395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7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A011CF-BB63-161A-CAC8-5A4995A320D8}"/>
              </a:ext>
            </a:extLst>
          </p:cNvPr>
          <p:cNvSpPr/>
          <p:nvPr/>
        </p:nvSpPr>
        <p:spPr>
          <a:xfrm>
            <a:off x="344384" y="789964"/>
            <a:ext cx="7908967" cy="5218950"/>
          </a:xfrm>
          <a:prstGeom prst="rect">
            <a:avLst/>
          </a:prstGeom>
          <a:solidFill>
            <a:schemeClr val="accent1">
              <a:alpha val="4984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35576627-501B-74DE-E34F-C5DA498C987C}"/>
              </a:ext>
            </a:extLst>
          </p:cNvPr>
          <p:cNvSpPr txBox="1">
            <a:spLocks/>
          </p:cNvSpPr>
          <p:nvPr/>
        </p:nvSpPr>
        <p:spPr>
          <a:xfrm>
            <a:off x="8403693" y="1904830"/>
            <a:ext cx="3212502" cy="2767366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Density plot show slope estimates distributions under both error types.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Under </a:t>
            </a:r>
            <a:r>
              <a:rPr lang="en-GB" b="1" dirty="0">
                <a:solidFill>
                  <a:schemeClr val="bg1"/>
                </a:solidFill>
              </a:rPr>
              <a:t>normal errors</a:t>
            </a:r>
            <a:r>
              <a:rPr lang="en-GB" dirty="0">
                <a:solidFill>
                  <a:schemeClr val="bg1"/>
                </a:solidFill>
              </a:rPr>
              <a:t>, all methods are accurate and consistent.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Under </a:t>
            </a:r>
            <a:r>
              <a:rPr lang="en-GB" b="1" dirty="0">
                <a:solidFill>
                  <a:schemeClr val="bg1"/>
                </a:solidFill>
              </a:rPr>
              <a:t>Cauchy errors</a:t>
            </a:r>
            <a:r>
              <a:rPr lang="en-GB" dirty="0">
                <a:solidFill>
                  <a:schemeClr val="bg1"/>
                </a:solidFill>
              </a:rPr>
              <a:t>: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OLS would fail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QR-based estimators still provide stable and concentrated estimates.</a:t>
            </a:r>
            <a:endParaRPr lang="it-IT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bg1"/>
              </a:solidFill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dirty="0"/>
          </a:p>
        </p:txBody>
      </p:sp>
      <p:pic>
        <p:nvPicPr>
          <p:cNvPr id="6" name="Immagine 5" descr="Immagine che contiene Diagramma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18CDE38C-342E-7EB2-F1F3-C33601A8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05" y="1490608"/>
            <a:ext cx="7321286" cy="3943035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4C1788-B4D4-2448-65E1-84EC51AF0731}"/>
              </a:ext>
            </a:extLst>
          </p:cNvPr>
          <p:cNvSpPr/>
          <p:nvPr/>
        </p:nvSpPr>
        <p:spPr>
          <a:xfrm>
            <a:off x="8569948" y="789964"/>
            <a:ext cx="2648197" cy="700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53002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610728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343079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5" y="340424"/>
            <a:ext cx="4630139" cy="5265795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8864F0AE-9C26-B431-B718-FB0E9D0EC6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9" y="1540291"/>
            <a:ext cx="4223149" cy="2863019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1780" y="1071563"/>
            <a:ext cx="7290218" cy="5242298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distribution of error&#10;&#10;AI-generated content may be incorrect.">
            <a:extLst>
              <a:ext uri="{FF2B5EF4-FFF2-40B4-BE49-F238E27FC236}">
                <a16:creationId xmlns:a16="http://schemas.microsoft.com/office/drawing/2014/main" id="{B6810BC2-E79B-458C-0218-8A322606FC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002" y="1301981"/>
            <a:ext cx="6020730" cy="27544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CDFF88-41B2-7BE8-3223-ED5AD3E09429}"/>
                  </a:ext>
                </a:extLst>
              </p14:cNvPr>
              <p14:cNvContentPartPr/>
              <p14:nvPr/>
            </p14:nvContentPartPr>
            <p14:xfrm>
              <a:off x="608007" y="1776785"/>
              <a:ext cx="1724040" cy="14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CDFF88-41B2-7BE8-3223-ED5AD3E094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367" y="1668785"/>
                <a:ext cx="1831680" cy="2296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1FBA1A-ED83-42E9-9500-13C6B097671C}"/>
              </a:ext>
            </a:extLst>
          </p:cNvPr>
          <p:cNvSpPr txBox="1"/>
          <p:nvPr/>
        </p:nvSpPr>
        <p:spPr>
          <a:xfrm>
            <a:off x="5242428" y="287148"/>
            <a:ext cx="43451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t-Student Distribution </a:t>
            </a:r>
            <a:endParaRPr lang="en-IT" sz="3000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4135656-270C-D9E5-23E9-4A90884F1117}"/>
                  </a:ext>
                </a:extLst>
              </p14:cNvPr>
              <p14:cNvContentPartPr/>
              <p14:nvPr/>
            </p14:nvContentPartPr>
            <p14:xfrm>
              <a:off x="6660258" y="3810764"/>
              <a:ext cx="685800" cy="36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4135656-270C-D9E5-23E9-4A90884F11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6258" y="3702764"/>
                <a:ext cx="793440" cy="25236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68C2900-CB16-0765-C3D3-BC3B753B33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1850" y="4286882"/>
            <a:ext cx="3238500" cy="1485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55E1503-98F8-6B4F-D671-03DE887CFB99}"/>
                  </a:ext>
                </a:extLst>
              </p14:cNvPr>
              <p14:cNvContentPartPr/>
              <p14:nvPr/>
            </p14:nvContentPartPr>
            <p14:xfrm>
              <a:off x="7339171" y="4919047"/>
              <a:ext cx="1408320" cy="295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55E1503-98F8-6B4F-D671-03DE887CFB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85171" y="4811407"/>
                <a:ext cx="1515960" cy="24516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C8ED0E76-47C1-0E3E-7A8E-82CA6D08C6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3501" y="4427537"/>
            <a:ext cx="31623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5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black graph&#10;&#10;AI-generated content may be incorrect.">
            <a:extLst>
              <a:ext uri="{FF2B5EF4-FFF2-40B4-BE49-F238E27FC236}">
                <a16:creationId xmlns:a16="http://schemas.microsoft.com/office/drawing/2014/main" id="{7574319C-406B-C269-3B87-C28E8B90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515"/>
            <a:ext cx="5153891" cy="3929841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4A392765-0757-8D3D-A1A8-AB8A02B089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168" y="15502"/>
            <a:ext cx="5255832" cy="6842498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FEB806AF-E33C-B182-F1AA-5F70A6617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2" y="4175356"/>
            <a:ext cx="6289583" cy="2086375"/>
          </a:xfrm>
          <a:prstGeom prst="rect">
            <a:avLst/>
          </a:prstGeom>
        </p:spPr>
      </p:pic>
      <p:pic>
        <p:nvPicPr>
          <p:cNvPr id="5" name="Picture 4" descr="A math equation with a number of equations&#10;&#10;AI-generated content may be incorrect.">
            <a:extLst>
              <a:ext uri="{FF2B5EF4-FFF2-40B4-BE49-F238E27FC236}">
                <a16:creationId xmlns:a16="http://schemas.microsoft.com/office/drawing/2014/main" id="{0E3DF8AD-4912-427E-D8C0-13A2BC75EE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184" y="1866268"/>
            <a:ext cx="2866388" cy="81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9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59DB46C-902D-D2EC-EBE3-317C6141680D}"/>
              </a:ext>
            </a:extLst>
          </p:cNvPr>
          <p:cNvSpPr/>
          <p:nvPr/>
        </p:nvSpPr>
        <p:spPr>
          <a:xfrm>
            <a:off x="7975086" y="2674834"/>
            <a:ext cx="3997783" cy="3710842"/>
          </a:xfrm>
          <a:prstGeom prst="rect">
            <a:avLst/>
          </a:prstGeom>
          <a:solidFill>
            <a:schemeClr val="tx2">
              <a:lumMod val="25000"/>
              <a:lumOff val="75000"/>
              <a:alpha val="4978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6AF1E8-6D8A-2DF7-C79F-983FE1EEB839}"/>
              </a:ext>
            </a:extLst>
          </p:cNvPr>
          <p:cNvSpPr/>
          <p:nvPr/>
        </p:nvSpPr>
        <p:spPr>
          <a:xfrm>
            <a:off x="4328313" y="2660979"/>
            <a:ext cx="3535374" cy="3710842"/>
          </a:xfrm>
          <a:prstGeom prst="rect">
            <a:avLst/>
          </a:prstGeom>
          <a:solidFill>
            <a:srgbClr val="92D050">
              <a:alpha val="4978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8CE25-EC3C-825E-9FBE-BF3D3F29B9E8}"/>
              </a:ext>
            </a:extLst>
          </p:cNvPr>
          <p:cNvSpPr/>
          <p:nvPr/>
        </p:nvSpPr>
        <p:spPr>
          <a:xfrm>
            <a:off x="154379" y="2692180"/>
            <a:ext cx="3997783" cy="3710842"/>
          </a:xfrm>
          <a:prstGeom prst="rect">
            <a:avLst/>
          </a:prstGeom>
          <a:solidFill>
            <a:srgbClr val="FFC000">
              <a:alpha val="4978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883DA8-5DD9-205D-6BDF-50F2F0B7E0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5120448"/>
              </p:ext>
            </p:extLst>
          </p:nvPr>
        </p:nvGraphicFramePr>
        <p:xfrm>
          <a:off x="637309" y="-345276"/>
          <a:ext cx="11234057" cy="3710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C18BA05-8021-5474-A8C6-935BE3E56E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634" y="3283528"/>
            <a:ext cx="3588938" cy="831455"/>
          </a:xfrm>
          <a:prstGeom prst="rect">
            <a:avLst/>
          </a:prstGeom>
        </p:spPr>
      </p:pic>
      <p:pic>
        <p:nvPicPr>
          <p:cNvPr id="6" name="Picture 5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344352DF-5164-C322-8C61-BD2DD7A3E2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634" y="4516400"/>
            <a:ext cx="3588938" cy="831455"/>
          </a:xfrm>
          <a:prstGeom prst="rect">
            <a:avLst/>
          </a:prstGeom>
        </p:spPr>
      </p:pic>
      <p:pic>
        <p:nvPicPr>
          <p:cNvPr id="7" name="Picture 6" descr="A diagram of a distribution of a product&#10;&#10;AI-generated content may be incorrect.">
            <a:extLst>
              <a:ext uri="{FF2B5EF4-FFF2-40B4-BE49-F238E27FC236}">
                <a16:creationId xmlns:a16="http://schemas.microsoft.com/office/drawing/2014/main" id="{4B09C408-680B-57FB-9700-E661E8886C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2932" y="2948936"/>
            <a:ext cx="3689186" cy="2612544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F948670-E2BB-BC0E-E5AC-37B30F8BDD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9404" y="3184003"/>
            <a:ext cx="2724232" cy="1182001"/>
          </a:xfrm>
          <a:prstGeom prst="rect">
            <a:avLst/>
          </a:prstGeom>
        </p:spPr>
      </p:pic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1EC1C16-4686-5CD4-CAFC-A40A3084CF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9404" y="4530255"/>
            <a:ext cx="2724232" cy="10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0" grpId="0" animBg="1"/>
      <p:bldGraphic spid="4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7">
            <a:extLst>
              <a:ext uri="{FF2B5EF4-FFF2-40B4-BE49-F238E27FC236}">
                <a16:creationId xmlns:a16="http://schemas.microsoft.com/office/drawing/2014/main" id="{136D6920-2D58-0CE6-F6AC-8E7EC9855293}"/>
              </a:ext>
            </a:extLst>
          </p:cNvPr>
          <p:cNvSpPr txBox="1"/>
          <p:nvPr/>
        </p:nvSpPr>
        <p:spPr>
          <a:xfrm>
            <a:off x="630935" y="502920"/>
            <a:ext cx="4023359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Skew-t </a:t>
            </a:r>
            <a:r>
              <a:rPr lang="en-US" sz="2500" b="1" kern="1200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Distribution</a:t>
            </a:r>
            <a:r>
              <a:rPr lang="en-US" sz="3000" b="1" kern="1200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function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ottotitolo 4">
            <a:extLst>
              <a:ext uri="{FF2B5EF4-FFF2-40B4-BE49-F238E27FC236}">
                <a16:creationId xmlns:a16="http://schemas.microsoft.com/office/drawing/2014/main" id="{97E5EAB2-D8BF-39F1-2DE6-E1A71D097C8C}"/>
              </a:ext>
            </a:extLst>
          </p:cNvPr>
          <p:cNvSpPr txBox="1">
            <a:spLocks/>
          </p:cNvSpPr>
          <p:nvPr/>
        </p:nvSpPr>
        <p:spPr>
          <a:xfrm>
            <a:off x="4654295" y="502920"/>
            <a:ext cx="5643274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It reflects realistic data scenarios in economics and finance.</a:t>
            </a:r>
          </a:p>
          <a:p>
            <a:endParaRPr lang="en-US" sz="1600" dirty="0"/>
          </a:p>
          <a:p>
            <a:r>
              <a:rPr lang="en-US" sz="1600" b="1" dirty="0"/>
              <a:t>Why Skew-t?</a:t>
            </a:r>
          </a:p>
          <a:p>
            <a:pPr marL="285750"/>
            <a:r>
              <a:rPr lang="en-US" sz="1600" dirty="0"/>
              <a:t>Combines asymmetry (skewness) and heavy tails</a:t>
            </a:r>
          </a:p>
          <a:p>
            <a:pPr marL="285750"/>
            <a:r>
              <a:rPr lang="en-US" sz="1600" dirty="0"/>
              <a:t>Capture non-normality in real world data</a:t>
            </a:r>
          </a:p>
          <a:p>
            <a:pPr marL="285750"/>
            <a:r>
              <a:rPr lang="en-US" sz="1600" dirty="0"/>
              <a:t>It is deal for testing estimator consistency and variance under complex error structure</a:t>
            </a:r>
          </a:p>
          <a:p>
            <a:endParaRPr lang="en-US" sz="700" dirty="0"/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175379AB-6F06-0A72-542F-A48483E2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332" y="2767330"/>
            <a:ext cx="4203700" cy="32893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F15858-75A2-142F-285E-303FA47D0233}"/>
              </a:ext>
            </a:extLst>
          </p:cNvPr>
          <p:cNvSpPr/>
          <p:nvPr/>
        </p:nvSpPr>
        <p:spPr>
          <a:xfrm>
            <a:off x="522514" y="658487"/>
            <a:ext cx="3621974" cy="1151906"/>
          </a:xfrm>
          <a:prstGeom prst="roundRect">
            <a:avLst/>
          </a:prstGeom>
          <a:solidFill>
            <a:schemeClr val="accent1">
              <a:alpha val="5033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45BDB-4F44-A72F-EC6D-93984E439D4E}"/>
              </a:ext>
            </a:extLst>
          </p:cNvPr>
          <p:cNvSpPr/>
          <p:nvPr/>
        </p:nvSpPr>
        <p:spPr>
          <a:xfrm>
            <a:off x="247893" y="3160617"/>
            <a:ext cx="5777940" cy="3158837"/>
          </a:xfrm>
          <a:prstGeom prst="roundRect">
            <a:avLst/>
          </a:prstGeom>
          <a:solidFill>
            <a:schemeClr val="accent1">
              <a:alpha val="5020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3B851330-766E-EEC6-39C2-42A20CB013BC}"/>
              </a:ext>
            </a:extLst>
          </p:cNvPr>
          <p:cNvSpPr txBox="1"/>
          <p:nvPr/>
        </p:nvSpPr>
        <p:spPr>
          <a:xfrm>
            <a:off x="522514" y="3429000"/>
            <a:ext cx="55125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error term come from a Skew-t distribution with: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Location=0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Scale01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Skewness=5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Degree of freedom=5</a:t>
            </a:r>
          </a:p>
        </p:txBody>
      </p:sp>
    </p:spTree>
    <p:extLst>
      <p:ext uri="{BB962C8B-B14F-4D97-AF65-F5344CB8AC3E}">
        <p14:creationId xmlns:p14="http://schemas.microsoft.com/office/powerpoint/2010/main" val="250150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92BE546-7AE5-7BF4-A00D-3E840FF5A037}"/>
              </a:ext>
            </a:extLst>
          </p:cNvPr>
          <p:cNvSpPr txBox="1">
            <a:spLocks/>
          </p:cNvSpPr>
          <p:nvPr/>
        </p:nvSpPr>
        <p:spPr>
          <a:xfrm>
            <a:off x="752696" y="611760"/>
            <a:ext cx="3936013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+mn-ea"/>
                <a:cs typeface="+mn-cs"/>
              </a:rPr>
              <a:t>All 3 methods are robust under skewed and heavy-tailed error conditions. </a:t>
            </a:r>
            <a:br>
              <a:rPr lang="en-US" sz="1100" dirty="0">
                <a:latin typeface="+mn-lt"/>
                <a:ea typeface="+mn-ea"/>
                <a:cs typeface="+mn-cs"/>
              </a:rPr>
            </a:br>
            <a:r>
              <a:rPr lang="en-US" sz="1100" dirty="0">
                <a:latin typeface="+mn-lt"/>
                <a:ea typeface="+mn-ea"/>
                <a:cs typeface="+mn-cs"/>
              </a:rPr>
              <a:t>Differences in performance are minimal, but:</a:t>
            </a:r>
            <a:br>
              <a:rPr lang="en-US" sz="1100" dirty="0">
                <a:latin typeface="+mn-lt"/>
                <a:ea typeface="+mn-ea"/>
                <a:cs typeface="+mn-cs"/>
              </a:rPr>
            </a:br>
            <a:br>
              <a:rPr lang="en-US" sz="1100" dirty="0">
                <a:latin typeface="+mn-lt"/>
                <a:ea typeface="+mn-ea"/>
                <a:cs typeface="+mn-cs"/>
              </a:rPr>
            </a:br>
            <a:r>
              <a:rPr lang="en-US" sz="1100" dirty="0">
                <a:latin typeface="+mn-lt"/>
                <a:ea typeface="+mn-ea"/>
                <a:cs typeface="+mn-cs"/>
              </a:rPr>
              <a:t>Criterion 2 is slightly more efficient and consistent.</a:t>
            </a:r>
            <a:br>
              <a:rPr lang="en-US" sz="1100" dirty="0">
                <a:latin typeface="+mn-lt"/>
                <a:ea typeface="+mn-ea"/>
                <a:cs typeface="+mn-cs"/>
              </a:rPr>
            </a:br>
            <a:r>
              <a:rPr lang="en-US" sz="1100" dirty="0">
                <a:latin typeface="+mn-lt"/>
                <a:ea typeface="+mn-ea"/>
                <a:cs typeface="+mn-cs"/>
              </a:rPr>
              <a:t>CQR and Criterion 1 still deliver strong, unbiased estimates.</a:t>
            </a:r>
            <a:br>
              <a:rPr lang="en-US" sz="1100" dirty="0">
                <a:latin typeface="+mn-lt"/>
                <a:ea typeface="+mn-ea"/>
                <a:cs typeface="+mn-cs"/>
              </a:rPr>
            </a:br>
            <a:br>
              <a:rPr lang="en-US" sz="1100" dirty="0">
                <a:latin typeface="+mn-lt"/>
                <a:ea typeface="+mn-ea"/>
                <a:cs typeface="+mn-cs"/>
              </a:rPr>
            </a:br>
            <a:r>
              <a:rPr lang="en-US" sz="1100" dirty="0">
                <a:latin typeface="+mn-lt"/>
                <a:ea typeface="+mn-ea"/>
                <a:cs typeface="+mn-cs"/>
              </a:rPr>
              <a:t>Quantile regression remains a powerful tool for non-standard error settings.</a:t>
            </a:r>
            <a:br>
              <a:rPr lang="en-US" sz="1100" dirty="0">
                <a:latin typeface="+mn-lt"/>
                <a:ea typeface="+mn-ea"/>
                <a:cs typeface="+mn-cs"/>
              </a:rPr>
            </a:br>
            <a:r>
              <a:rPr lang="en-US" sz="1100" dirty="0">
                <a:latin typeface="+mn-lt"/>
                <a:ea typeface="+mn-ea"/>
                <a:cs typeface="+mn-cs"/>
              </a:rPr>
              <a:t> </a:t>
            </a:r>
            <a:br>
              <a:rPr lang="en-US" sz="1100" dirty="0">
                <a:latin typeface="+mn-lt"/>
                <a:ea typeface="+mn-ea"/>
                <a:cs typeface="+mn-cs"/>
              </a:rPr>
            </a:br>
            <a:endParaRPr lang="en-US" sz="11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F7834699-64FC-19CA-5903-7C23931C90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39" y="2734056"/>
            <a:ext cx="10025513" cy="3483864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895D76-3EFE-3396-395F-06A36BCF2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134" y="806136"/>
            <a:ext cx="2891977" cy="1264508"/>
          </a:xfrm>
          <a:prstGeom prst="rect">
            <a:avLst/>
          </a:prstGeom>
        </p:spPr>
      </p:pic>
      <p:pic>
        <p:nvPicPr>
          <p:cNvPr id="7" name="Picture 6" descr="A screenshot of a black background with white text&#10;&#10;AI-generated content may be incorrect.">
            <a:extLst>
              <a:ext uri="{FF2B5EF4-FFF2-40B4-BE49-F238E27FC236}">
                <a16:creationId xmlns:a16="http://schemas.microsoft.com/office/drawing/2014/main" id="{912C455D-8E11-AD78-BEEB-C08F8265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471" y="800062"/>
            <a:ext cx="3136900" cy="12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0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2AD52F-493A-3402-0CA6-B0A576930B49}"/>
              </a:ext>
            </a:extLst>
          </p:cNvPr>
          <p:cNvSpPr txBox="1">
            <a:spLocks/>
          </p:cNvSpPr>
          <p:nvPr/>
        </p:nvSpPr>
        <p:spPr>
          <a:xfrm>
            <a:off x="861950" y="3576187"/>
            <a:ext cx="4215063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Skew-normal distribution function</a:t>
            </a:r>
          </a:p>
        </p:txBody>
      </p:sp>
      <p:pic>
        <p:nvPicPr>
          <p:cNvPr id="5" name="Immagine 5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C131DDA7-55A7-D68B-1ED6-FF69B1FB9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23" y="426151"/>
            <a:ext cx="9875259" cy="1456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982FAC-67F5-CB7C-E802-F258F39EE61C}"/>
              </a:ext>
            </a:extLst>
          </p:cNvPr>
          <p:cNvSpPr txBox="1"/>
          <p:nvPr/>
        </p:nvSpPr>
        <p:spPr>
          <a:xfrm>
            <a:off x="6571684" y="3780233"/>
            <a:ext cx="563054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/>
              <a:t>The set up is the same:</a:t>
            </a:r>
          </a:p>
          <a:p>
            <a:pPr marL="0" indent="0">
              <a:buNone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Alpha=0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Beta=1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Xi is a deterministic sequence from 1 to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error term come from a skew-normal distribution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Location=0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Scale=1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Skewness parameter alpha=5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N=1000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n=100</a:t>
            </a:r>
          </a:p>
          <a:p>
            <a:endParaRPr lang="en-IT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0A749-FA4E-0D01-BA4F-5DBA1F71BBAA}"/>
              </a:ext>
            </a:extLst>
          </p:cNvPr>
          <p:cNvSpPr txBox="1"/>
          <p:nvPr/>
        </p:nvSpPr>
        <p:spPr>
          <a:xfrm>
            <a:off x="451597" y="5914554"/>
            <a:ext cx="6109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2D050"/>
                </a:solidFill>
              </a:rPr>
              <a:t>Is ideal for modelling dataset with mild skewness and limited extreme values</a:t>
            </a:r>
          </a:p>
          <a:p>
            <a:endParaRPr lang="en-US" sz="1800" dirty="0"/>
          </a:p>
        </p:txBody>
      </p:sp>
      <p:sp>
        <p:nvSpPr>
          <p:cNvPr id="13" name="CasellaDiTesto 6">
            <a:extLst>
              <a:ext uri="{FF2B5EF4-FFF2-40B4-BE49-F238E27FC236}">
                <a16:creationId xmlns:a16="http://schemas.microsoft.com/office/drawing/2014/main" id="{C27A660E-718C-CB23-A202-31D90919E2C0}"/>
              </a:ext>
            </a:extLst>
          </p:cNvPr>
          <p:cNvSpPr txBox="1"/>
          <p:nvPr/>
        </p:nvSpPr>
        <p:spPr>
          <a:xfrm>
            <a:off x="4741965" y="1987333"/>
            <a:ext cx="72891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If we make the comparison:</a:t>
            </a:r>
          </a:p>
          <a:p>
            <a:endParaRPr lang="it-IT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sz="1400" dirty="0"/>
              <a:t>While the skewness is the same, the tail behaviour strongly influences the performance.</a:t>
            </a:r>
            <a:endParaRPr lang="it-IT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sz="1400" dirty="0"/>
              <a:t>With the light tails (SKEW-NORMAL ERROR), estimators are more stable and precise</a:t>
            </a:r>
            <a:endParaRPr lang="it-IT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sz="1400" dirty="0"/>
              <a:t>With heavy tails (SKEW-T ERROR), we observe slightly higher variability</a:t>
            </a:r>
            <a:r>
              <a:rPr lang="it-IT" sz="1400" dirty="0"/>
              <a:t> </a:t>
            </a:r>
            <a:endParaRPr lang="en-US" sz="1400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F4F2E82-65D7-C0EE-7174-0592C07075FC}"/>
              </a:ext>
            </a:extLst>
          </p:cNvPr>
          <p:cNvSpPr/>
          <p:nvPr/>
        </p:nvSpPr>
        <p:spPr>
          <a:xfrm>
            <a:off x="741429" y="3682529"/>
            <a:ext cx="3883426" cy="2125683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65040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568FE-C6D7-26C6-3D3D-AA922CB08710}"/>
              </a:ext>
            </a:extLst>
          </p:cNvPr>
          <p:cNvSpPr txBox="1"/>
          <p:nvPr/>
        </p:nvSpPr>
        <p:spPr>
          <a:xfrm>
            <a:off x="536804" y="777001"/>
            <a:ext cx="4486458" cy="103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000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Performance across error distributions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C14D380-A86C-C5F4-6A2E-95BB72D9D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884456"/>
            <a:ext cx="5628018" cy="28562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DF1C1A-89C6-E72A-2EB3-64C8EFFFB36A}"/>
              </a:ext>
            </a:extLst>
          </p:cNvPr>
          <p:cNvSpPr txBox="1"/>
          <p:nvPr/>
        </p:nvSpPr>
        <p:spPr>
          <a:xfrm>
            <a:off x="501575" y="3105516"/>
            <a:ext cx="4929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PERFORMANCE VARIES BY TAIL BEHAVIOR AND SKEWNESS.</a:t>
            </a:r>
          </a:p>
          <a:p>
            <a:endParaRPr lang="en-US" sz="1800" dirty="0"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800" dirty="0">
                <a:solidFill>
                  <a:srgbClr val="FFC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 METHODS SHOW ROBUSTNESS </a:t>
            </a:r>
            <a:endParaRPr lang="en-US" dirty="0">
              <a:solidFill>
                <a:srgbClr val="FFC000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endParaRPr lang="en-IT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11961D-D901-8F7B-3A8C-E84061BD318B}"/>
              </a:ext>
            </a:extLst>
          </p:cNvPr>
          <p:cNvSpPr/>
          <p:nvPr/>
        </p:nvSpPr>
        <p:spPr>
          <a:xfrm>
            <a:off x="243896" y="2947416"/>
            <a:ext cx="5072274" cy="1578387"/>
          </a:xfrm>
          <a:prstGeom prst="roundRect">
            <a:avLst/>
          </a:prstGeom>
          <a:solidFill>
            <a:schemeClr val="accent1">
              <a:alpha val="500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00953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ECDB6-EA62-8872-8FFC-CA260881795E}"/>
              </a:ext>
            </a:extLst>
          </p:cNvPr>
          <p:cNvSpPr txBox="1"/>
          <p:nvPr/>
        </p:nvSpPr>
        <p:spPr>
          <a:xfrm>
            <a:off x="645066" y="349347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AkayaKanadaka" panose="02010502080401010103" pitchFamily="2" charset="77"/>
                <a:ea typeface="+mj-ea"/>
                <a:cs typeface="AkayaKanadaka" panose="02010502080401010103" pitchFamily="2" charset="77"/>
              </a:rPr>
              <a:t>Analysis of CO2 growth 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B3C24CA-2D92-72C7-3D21-A262EA1893A2}"/>
              </a:ext>
            </a:extLst>
          </p:cNvPr>
          <p:cNvSpPr txBox="1">
            <a:spLocks/>
          </p:cNvSpPr>
          <p:nvPr/>
        </p:nvSpPr>
        <p:spPr>
          <a:xfrm>
            <a:off x="498207" y="3719261"/>
            <a:ext cx="5058888" cy="192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buFont typeface="+mj-lt"/>
              <a:buAutoNum type="arabicPeriod"/>
            </a:pPr>
            <a:r>
              <a:rPr lang="en-US" sz="1800" dirty="0"/>
              <a:t>Investigate the short-term dynamics of CO2 emissions growth, using macroeconomic variable to explain and forecast fluctuations in emissions.</a:t>
            </a:r>
          </a:p>
          <a:p>
            <a:pPr marL="114300" indent="-342900">
              <a:buFont typeface="+mj-lt"/>
              <a:buAutoNum type="arabicPeriod"/>
            </a:pPr>
            <a:r>
              <a:rPr lang="en-US" sz="1800" dirty="0"/>
              <a:t>The GOAL is to explore both average and distributional effects using regression-based techniques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BFF18F-4093-32CC-B14E-4F602904EB67}"/>
              </a:ext>
            </a:extLst>
          </p:cNvPr>
          <p:cNvSpPr/>
          <p:nvPr/>
        </p:nvSpPr>
        <p:spPr>
          <a:xfrm>
            <a:off x="486735" y="294690"/>
            <a:ext cx="3570719" cy="1200361"/>
          </a:xfrm>
          <a:prstGeom prst="roundRect">
            <a:avLst/>
          </a:prstGeom>
          <a:solidFill>
            <a:schemeClr val="accent1">
              <a:alpha val="504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3A6F5E-589C-F43F-2C4D-3B88B61F7C8D}"/>
              </a:ext>
            </a:extLst>
          </p:cNvPr>
          <p:cNvSpPr/>
          <p:nvPr/>
        </p:nvSpPr>
        <p:spPr>
          <a:xfrm>
            <a:off x="510639" y="2492216"/>
            <a:ext cx="2576946" cy="7771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Objective</a:t>
            </a:r>
          </a:p>
        </p:txBody>
      </p:sp>
      <p:pic>
        <p:nvPicPr>
          <p:cNvPr id="10" name="Picture 9" descr="A co2 cloud in the sky&#10;&#10;AI-generated content may be incorrect.">
            <a:extLst>
              <a:ext uri="{FF2B5EF4-FFF2-40B4-BE49-F238E27FC236}">
                <a16:creationId xmlns:a16="http://schemas.microsoft.com/office/drawing/2014/main" id="{7378533B-248F-6445-B43C-4366E3FE89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11" y="1346441"/>
            <a:ext cx="5851133" cy="3400849"/>
          </a:xfrm>
          <a:prstGeom prst="rect">
            <a:avLst/>
          </a:prstGeom>
        </p:spPr>
      </p:pic>
      <p:pic>
        <p:nvPicPr>
          <p:cNvPr id="25" name="Picture 24" descr="A red circle and black circles&#10;&#10;AI-generated content may be incorrect.">
            <a:extLst>
              <a:ext uri="{FF2B5EF4-FFF2-40B4-BE49-F238E27FC236}">
                <a16:creationId xmlns:a16="http://schemas.microsoft.com/office/drawing/2014/main" id="{E9715B66-2AA1-CB2A-86FD-82D13FAA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637933">
            <a:off x="3586539" y="1509328"/>
            <a:ext cx="2106707" cy="111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0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4">
            <a:extLst>
              <a:ext uri="{FF2B5EF4-FFF2-40B4-BE49-F238E27FC236}">
                <a16:creationId xmlns:a16="http://schemas.microsoft.com/office/drawing/2014/main" id="{5E56E27D-9E38-5878-BD52-CC9DC8C851E2}"/>
              </a:ext>
            </a:extLst>
          </p:cNvPr>
          <p:cNvSpPr txBox="1"/>
          <p:nvPr/>
        </p:nvSpPr>
        <p:spPr>
          <a:xfrm>
            <a:off x="6222275" y="458746"/>
            <a:ext cx="54452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macroeconomic indicators come from FRED (Federal Reserve Economic Data) and include:</a:t>
            </a:r>
          </a:p>
          <a:p>
            <a:endParaRPr lang="it-IT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Industrial Production Index (</a:t>
            </a:r>
            <a:r>
              <a:rPr lang="it-IT" b="1" dirty="0"/>
              <a:t>INDPRO</a:t>
            </a:r>
            <a:r>
              <a:rPr lang="it-IT" dirty="0"/>
              <a:t>)</a:t>
            </a:r>
          </a:p>
          <a:p>
            <a:pPr lvl="0"/>
            <a:endParaRPr lang="it-IT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 err="1"/>
              <a:t>Unemployment</a:t>
            </a:r>
            <a:r>
              <a:rPr lang="it-IT" dirty="0"/>
              <a:t> Rate (</a:t>
            </a:r>
            <a:r>
              <a:rPr lang="it-IT" b="1" dirty="0"/>
              <a:t>UNRATE</a:t>
            </a:r>
            <a:r>
              <a:rPr lang="it-IT" dirty="0"/>
              <a:t>)</a:t>
            </a:r>
          </a:p>
          <a:p>
            <a:pPr lvl="0"/>
            <a:endParaRPr lang="it-IT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Federal Funds Rate (</a:t>
            </a:r>
            <a:r>
              <a:rPr lang="it-IT" b="1" dirty="0"/>
              <a:t>FEDFUNDS</a:t>
            </a:r>
            <a:r>
              <a:rPr lang="it-IT" dirty="0"/>
              <a:t>)</a:t>
            </a:r>
          </a:p>
          <a:p>
            <a:pPr lvl="0"/>
            <a:endParaRPr lang="it-IT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 err="1"/>
              <a:t>Nonfarm</a:t>
            </a:r>
            <a:r>
              <a:rPr lang="it-IT" dirty="0"/>
              <a:t> Payrolls (</a:t>
            </a:r>
            <a:r>
              <a:rPr lang="it-IT" b="1" dirty="0"/>
              <a:t>PAYEMS</a:t>
            </a:r>
            <a:r>
              <a:rPr lang="it-IT" dirty="0"/>
              <a:t>)</a:t>
            </a:r>
          </a:p>
          <a:p>
            <a:endParaRPr lang="en-US" dirty="0"/>
          </a:p>
        </p:txBody>
      </p:sp>
      <p:sp>
        <p:nvSpPr>
          <p:cNvPr id="3" name="CasellaDiTesto 5">
            <a:extLst>
              <a:ext uri="{FF2B5EF4-FFF2-40B4-BE49-F238E27FC236}">
                <a16:creationId xmlns:a16="http://schemas.microsoft.com/office/drawing/2014/main" id="{A52289D8-5A66-7017-D426-CD8AA6CE78E0}"/>
              </a:ext>
            </a:extLst>
          </p:cNvPr>
          <p:cNvSpPr txBox="1"/>
          <p:nvPr/>
        </p:nvSpPr>
        <p:spPr>
          <a:xfrm>
            <a:off x="640475" y="4983678"/>
            <a:ext cx="102630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Two </a:t>
            </a:r>
            <a:r>
              <a:rPr lang="it-IT" dirty="0" err="1"/>
              <a:t>regression</a:t>
            </a:r>
            <a:r>
              <a:rPr lang="it-IT" dirty="0"/>
              <a:t> models are </a:t>
            </a:r>
            <a:r>
              <a:rPr lang="it-IT" dirty="0" err="1"/>
              <a:t>used</a:t>
            </a:r>
            <a:r>
              <a:rPr lang="it-IT" dirty="0"/>
              <a:t> to study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CO₂ </a:t>
            </a:r>
            <a:r>
              <a:rPr lang="it-IT" dirty="0" err="1"/>
              <a:t>growth</a:t>
            </a:r>
            <a:r>
              <a:rPr lang="it-IT" dirty="0"/>
              <a:t> and the macro </a:t>
            </a:r>
            <a:r>
              <a:rPr lang="it-IT" dirty="0" err="1"/>
              <a:t>factors</a:t>
            </a:r>
            <a:r>
              <a:rPr lang="it-IT" dirty="0"/>
              <a:t>:</a:t>
            </a:r>
          </a:p>
          <a:p>
            <a:endParaRPr lang="it-IT" dirty="0"/>
          </a:p>
          <a:p>
            <a:pPr marL="285750" lvl="0" indent="-285750">
              <a:buFont typeface="Wingdings" pitchFamily="2" charset="2"/>
              <a:buChar char="§"/>
            </a:pPr>
            <a:r>
              <a:rPr lang="it-IT" b="1" dirty="0" err="1"/>
              <a:t>Ordinary</a:t>
            </a:r>
            <a:r>
              <a:rPr lang="it-IT" b="1" dirty="0"/>
              <a:t> </a:t>
            </a:r>
            <a:r>
              <a:rPr lang="it-IT" b="1" dirty="0" err="1"/>
              <a:t>Least</a:t>
            </a:r>
            <a:r>
              <a:rPr lang="it-IT" b="1" dirty="0"/>
              <a:t> </a:t>
            </a:r>
            <a:r>
              <a:rPr lang="it-IT" b="1" dirty="0" err="1"/>
              <a:t>Squares</a:t>
            </a:r>
            <a:r>
              <a:rPr lang="it-IT" b="1" dirty="0"/>
              <a:t> (OLS)</a:t>
            </a:r>
            <a:r>
              <a:rPr lang="it-IT" dirty="0"/>
              <a:t> – </a:t>
            </a:r>
            <a:r>
              <a:rPr lang="it-IT" dirty="0" err="1"/>
              <a:t>captures</a:t>
            </a:r>
            <a:r>
              <a:rPr lang="it-IT" dirty="0"/>
              <a:t> the </a:t>
            </a:r>
            <a:r>
              <a:rPr lang="it-IT" b="1" dirty="0" err="1"/>
              <a:t>average</a:t>
            </a:r>
            <a:r>
              <a:rPr lang="it-IT" b="1" dirty="0"/>
              <a:t> (</a:t>
            </a:r>
            <a:r>
              <a:rPr lang="it-IT" b="1" dirty="0" err="1"/>
              <a:t>mean</a:t>
            </a:r>
            <a:r>
              <a:rPr lang="it-IT" b="1" dirty="0"/>
              <a:t>) </a:t>
            </a:r>
            <a:r>
              <a:rPr lang="it-IT" b="1" dirty="0" err="1"/>
              <a:t>effect</a:t>
            </a:r>
            <a:endParaRPr lang="it-IT" b="1" dirty="0"/>
          </a:p>
          <a:p>
            <a:pPr marL="285750" lvl="0" indent="-285750">
              <a:buFont typeface="Wingdings" pitchFamily="2" charset="2"/>
              <a:buChar char="§"/>
            </a:pPr>
            <a:endParaRPr lang="it-IT" dirty="0"/>
          </a:p>
          <a:p>
            <a:pPr marL="285750" lvl="0" indent="-285750">
              <a:buFont typeface="Wingdings" pitchFamily="2" charset="2"/>
              <a:buChar char="§"/>
            </a:pPr>
            <a:r>
              <a:rPr lang="en-GB" b="1" dirty="0"/>
              <a:t>Quantile Regression (QR)</a:t>
            </a:r>
            <a:r>
              <a:rPr lang="en-GB" dirty="0"/>
              <a:t> – estimates </a:t>
            </a:r>
            <a:r>
              <a:rPr lang="en-GB" b="1" dirty="0"/>
              <a:t>conditional quantiles</a:t>
            </a:r>
            <a:r>
              <a:rPr lang="en-GB" dirty="0"/>
              <a:t> </a:t>
            </a:r>
            <a:r>
              <a:rPr lang="it-IT" dirty="0"/>
              <a:t> </a:t>
            </a:r>
            <a:endParaRPr lang="en-US" dirty="0"/>
          </a:p>
        </p:txBody>
      </p:sp>
      <p:pic>
        <p:nvPicPr>
          <p:cNvPr id="9" name="Picture 8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21621406-3B07-14CA-72A3-C486B0225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76" y="139880"/>
            <a:ext cx="4822173" cy="43780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F0F8B0-9A97-5CDA-BC30-CA04D9254918}"/>
              </a:ext>
            </a:extLst>
          </p:cNvPr>
          <p:cNvSpPr/>
          <p:nvPr/>
        </p:nvSpPr>
        <p:spPr>
          <a:xfrm>
            <a:off x="5658593" y="115647"/>
            <a:ext cx="6008914" cy="3565704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523F8D3-7CE0-DE87-B1D8-164B556A3CE9}"/>
              </a:ext>
            </a:extLst>
          </p:cNvPr>
          <p:cNvSpPr/>
          <p:nvPr/>
        </p:nvSpPr>
        <p:spPr>
          <a:xfrm>
            <a:off x="457200" y="4750797"/>
            <a:ext cx="10446326" cy="1967323"/>
          </a:xfrm>
          <a:prstGeom prst="roundRect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8117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FD52F8E-4A54-2873-D961-51C85520545C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800" kern="1200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Environment setup and data cleaning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4">
            <a:extLst>
              <a:ext uri="{FF2B5EF4-FFF2-40B4-BE49-F238E27FC236}">
                <a16:creationId xmlns:a16="http://schemas.microsoft.com/office/drawing/2014/main" id="{590C3AF7-6D71-C5BB-C5AF-FE56448F4D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The analysis begins with: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Setting the working directory</a:t>
            </a:r>
          </a:p>
          <a:p>
            <a:pPr marL="57150" lvl="0"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Import the file CO2_SA.csv</a:t>
            </a:r>
          </a:p>
          <a:p>
            <a:pPr marL="57150" lvl="0"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Removing missing value (Nas) using </a:t>
            </a:r>
            <a:r>
              <a:rPr lang="en-US" sz="2200" dirty="0" err="1"/>
              <a:t>na</a:t>
            </a:r>
            <a:r>
              <a:rPr lang="en-US" sz="2200" dirty="0"/>
              <a:t>-omit() to ensure a complete dataset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Picture 7" descr="A person writing a diagram of data cleaning&#10;&#10;AI-generated content may be incorrect.">
            <a:extLst>
              <a:ext uri="{FF2B5EF4-FFF2-40B4-BE49-F238E27FC236}">
                <a16:creationId xmlns:a16="http://schemas.microsoft.com/office/drawing/2014/main" id="{573448BF-C97D-B2E6-BD1C-F08B64C4D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986810"/>
            <a:ext cx="6903720" cy="488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3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working on a graph&#10;&#10;AI-generated content may be incorrect.">
            <a:extLst>
              <a:ext uri="{FF2B5EF4-FFF2-40B4-BE49-F238E27FC236}">
                <a16:creationId xmlns:a16="http://schemas.microsoft.com/office/drawing/2014/main" id="{E1CAFFEC-D3F8-FCED-148F-BF153628D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1" y="58879"/>
            <a:ext cx="4813668" cy="351014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AECF1E1-54D9-B360-43AA-15841ACF4F0A}"/>
              </a:ext>
            </a:extLst>
          </p:cNvPr>
          <p:cNvGrpSpPr/>
          <p:nvPr/>
        </p:nvGrpSpPr>
        <p:grpSpPr>
          <a:xfrm>
            <a:off x="4806513" y="440873"/>
            <a:ext cx="4620516" cy="5623853"/>
            <a:chOff x="5886447" y="629228"/>
            <a:chExt cx="5448300" cy="5934745"/>
          </a:xfrm>
        </p:grpSpPr>
        <p:pic>
          <p:nvPicPr>
            <p:cNvPr id="9" name="Picture 8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C607D40A-BD2F-1BE1-2623-6B30B7373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6448" y="3429000"/>
              <a:ext cx="5448299" cy="973377"/>
            </a:xfrm>
            <a:prstGeom prst="rect">
              <a:avLst/>
            </a:prstGeom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5CCF1FC-5E2F-B26E-078C-808BDE4E9CD3}"/>
                </a:ext>
              </a:extLst>
            </p:cNvPr>
            <p:cNvSpPr/>
            <p:nvPr/>
          </p:nvSpPr>
          <p:spPr>
            <a:xfrm>
              <a:off x="6904129" y="629228"/>
              <a:ext cx="3118035" cy="56919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dirty="0"/>
                <a:t>Extract and Clean Data</a:t>
              </a:r>
            </a:p>
          </p:txBody>
        </p:sp>
        <p:pic>
          <p:nvPicPr>
            <p:cNvPr id="15" name="Picture 14" descr="A screen shot of a computer code&#10;&#10;AI-generated content may be incorrect.">
              <a:extLst>
                <a:ext uri="{FF2B5EF4-FFF2-40B4-BE49-F238E27FC236}">
                  <a16:creationId xmlns:a16="http://schemas.microsoft.com/office/drawing/2014/main" id="{8C6C1704-EAD2-E90A-02C8-87CA71832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447" y="1431606"/>
              <a:ext cx="5448299" cy="961837"/>
            </a:xfrm>
            <a:prstGeom prst="rect">
              <a:avLst/>
            </a:prstGeom>
          </p:spPr>
        </p:pic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1B6E617-E498-07B3-5F5F-2C73B9D3796C}"/>
                </a:ext>
              </a:extLst>
            </p:cNvPr>
            <p:cNvSpPr/>
            <p:nvPr/>
          </p:nvSpPr>
          <p:spPr>
            <a:xfrm>
              <a:off x="7366659" y="2871355"/>
              <a:ext cx="2230581" cy="40178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dirty="0"/>
                <a:t>Core Function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F762060-5907-3659-9C0D-46AF15AB41EE}"/>
                </a:ext>
              </a:extLst>
            </p:cNvPr>
            <p:cNvSpPr/>
            <p:nvPr/>
          </p:nvSpPr>
          <p:spPr>
            <a:xfrm>
              <a:off x="7150923" y="4811015"/>
              <a:ext cx="2995916" cy="4700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dirty="0"/>
                <a:t>Proportion of Variances</a:t>
              </a:r>
            </a:p>
          </p:txBody>
        </p:sp>
        <p:pic>
          <p:nvPicPr>
            <p:cNvPr id="19" name="Picture 18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816023A9-DBED-75E8-C789-1EA0BAB9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6447" y="5437934"/>
              <a:ext cx="5448299" cy="1126039"/>
            </a:xfrm>
            <a:prstGeom prst="rect">
              <a:avLst/>
            </a:prstGeom>
          </p:spPr>
        </p:pic>
      </p:grpSp>
      <p:pic>
        <p:nvPicPr>
          <p:cNvPr id="26" name="Picture 25" descr="A blue and white triangle&#10;&#10;AI-generated content may be incorrect.">
            <a:extLst>
              <a:ext uri="{FF2B5EF4-FFF2-40B4-BE49-F238E27FC236}">
                <a16:creationId xmlns:a16="http://schemas.microsoft.com/office/drawing/2014/main" id="{330978AE-99EB-1487-908C-FFB2DCCA69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9701068" y="4395355"/>
            <a:ext cx="29591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1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59950-28C8-5275-93A0-3D5683C5EF5A}"/>
              </a:ext>
            </a:extLst>
          </p:cNvPr>
          <p:cNvSpPr txBox="1"/>
          <p:nvPr/>
        </p:nvSpPr>
        <p:spPr>
          <a:xfrm>
            <a:off x="638881" y="4501453"/>
            <a:ext cx="10909640" cy="106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Useful for DECISIONS</a:t>
            </a:r>
          </a:p>
        </p:txBody>
      </p:sp>
      <p:pic>
        <p:nvPicPr>
          <p:cNvPr id="3" name="Picture 2" descr="A graph with points and lines&#10;&#10;AI-generated content may be incorrect.">
            <a:extLst>
              <a:ext uri="{FF2B5EF4-FFF2-40B4-BE49-F238E27FC236}">
                <a16:creationId xmlns:a16="http://schemas.microsoft.com/office/drawing/2014/main" id="{C12E5983-A941-4E36-7F89-271BE0ABE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85" y="542716"/>
            <a:ext cx="5614416" cy="3663406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57BF02-1031-686E-0791-C5A6773F9F3C}"/>
              </a:ext>
            </a:extLst>
          </p:cNvPr>
          <p:cNvSpPr/>
          <p:nvPr/>
        </p:nvSpPr>
        <p:spPr>
          <a:xfrm>
            <a:off x="2073904" y="5075213"/>
            <a:ext cx="7730836" cy="913695"/>
          </a:xfrm>
          <a:prstGeom prst="roundRect">
            <a:avLst/>
          </a:prstGeom>
          <a:solidFill>
            <a:schemeClr val="accent1">
              <a:alpha val="499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9" name="Picture 8" descr="A diagram of a curve&#10;&#10;AI-generated content may be incorrect.">
            <a:extLst>
              <a:ext uri="{FF2B5EF4-FFF2-40B4-BE49-F238E27FC236}">
                <a16:creationId xmlns:a16="http://schemas.microsoft.com/office/drawing/2014/main" id="{7AE527C7-BE1C-3F76-325D-4341E933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070" y="542716"/>
            <a:ext cx="4546451" cy="295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6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959F59E-86AC-4677-BFB0-9CD55AB1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7ED08E-7CE7-4539-8E16-6A356378B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7324526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of a graph with a circle and lines&#10;&#10;AI-generated content may be incorrect.">
            <a:extLst>
              <a:ext uri="{FF2B5EF4-FFF2-40B4-BE49-F238E27FC236}">
                <a16:creationId xmlns:a16="http://schemas.microsoft.com/office/drawing/2014/main" id="{275DFD0D-8331-510A-6824-0350786417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56" y="650497"/>
            <a:ext cx="6440538" cy="557106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9F96DC1-4B54-4B36-B945-425E4C04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9003" y="487090"/>
            <a:ext cx="3745983" cy="18562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F450A1-0760-4C39-82E4-515AA4FC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9003" y="2511639"/>
            <a:ext cx="3745983" cy="18562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85CD32-2E94-4663-81AE-CC54E44AC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9003" y="4528738"/>
            <a:ext cx="3745983" cy="18562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B080C-CE77-0064-7056-3D99D746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521" y="650497"/>
            <a:ext cx="3420946" cy="239465"/>
          </a:xfrm>
          <a:prstGeom prst="rect">
            <a:avLst/>
          </a:prstGeom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B133182-19B6-7181-B7AB-5E3FF89A6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521" y="4656939"/>
            <a:ext cx="3294911" cy="1532134"/>
          </a:xfrm>
          <a:prstGeom prst="rect">
            <a:avLst/>
          </a:prstGeom>
        </p:spPr>
      </p:pic>
      <p:pic>
        <p:nvPicPr>
          <p:cNvPr id="5" name="Picture 4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AE118F35-B621-C8BD-13A8-D8F44D3BD0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122" y="1058279"/>
            <a:ext cx="3744864" cy="28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3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different sizes and numbers&#10;&#10;AI-generated content may be incorrect.">
            <a:extLst>
              <a:ext uri="{FF2B5EF4-FFF2-40B4-BE49-F238E27FC236}">
                <a16:creationId xmlns:a16="http://schemas.microsoft.com/office/drawing/2014/main" id="{48C098E4-3BFF-23FE-21E8-1362609F38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10048" b="5351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F7E13-9256-E5C8-7D66-E2ACCF7BEF3D}"/>
              </a:ext>
            </a:extLst>
          </p:cNvPr>
          <p:cNvSpPr txBox="1"/>
          <p:nvPr/>
        </p:nvSpPr>
        <p:spPr>
          <a:xfrm>
            <a:off x="7182273" y="528566"/>
            <a:ext cx="417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PC2 is strongly dominated by SP500</a:t>
            </a:r>
            <a:endParaRPr lang="en-IT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5209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67E63AFE-95C4-49CD-DD02-2385F970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" b="31237"/>
          <a:stretch>
            <a:fillRect/>
          </a:stretch>
        </p:blipFill>
        <p:spPr>
          <a:xfrm>
            <a:off x="6135392" y="466344"/>
            <a:ext cx="5306987" cy="2716316"/>
          </a:xfrm>
          <a:prstGeom prst="rect">
            <a:avLst/>
          </a:prstGeom>
        </p:spPr>
      </p:pic>
      <p:pic>
        <p:nvPicPr>
          <p:cNvPr id="5" name="Picture 4" descr="A graph showing a diagram of a number of periods&#10;&#10;AI-generated content may be incorrect.">
            <a:extLst>
              <a:ext uri="{FF2B5EF4-FFF2-40B4-BE49-F238E27FC236}">
                <a16:creationId xmlns:a16="http://schemas.microsoft.com/office/drawing/2014/main" id="{FE76E514-D5AF-AEA3-6688-7AAB1E9DC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25" y="1929398"/>
            <a:ext cx="4939303" cy="367961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445E43-CAFD-89E9-5E4D-45B34761CD33}"/>
              </a:ext>
            </a:extLst>
          </p:cNvPr>
          <p:cNvSpPr/>
          <p:nvPr/>
        </p:nvSpPr>
        <p:spPr>
          <a:xfrm>
            <a:off x="7718466" y="3182660"/>
            <a:ext cx="1363683" cy="641267"/>
          </a:xfrm>
          <a:prstGeom prst="roundRect">
            <a:avLst/>
          </a:prstGeom>
          <a:solidFill>
            <a:schemeClr val="accent1">
              <a:alpha val="4971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000" dirty="0"/>
              <a:t>COVID-19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162E8B-B860-1718-29D2-5DCA4D4E1A23}"/>
              </a:ext>
            </a:extLst>
          </p:cNvPr>
          <p:cNvCxnSpPr/>
          <p:nvPr/>
        </p:nvCxnSpPr>
        <p:spPr>
          <a:xfrm flipH="1" flipV="1">
            <a:off x="6804561" y="1929398"/>
            <a:ext cx="1021278" cy="1146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C595FB-4379-967E-A78E-7EBCDA9A64D6}"/>
              </a:ext>
            </a:extLst>
          </p:cNvPr>
          <p:cNvSpPr/>
          <p:nvPr/>
        </p:nvSpPr>
        <p:spPr>
          <a:xfrm>
            <a:off x="2066307" y="1405293"/>
            <a:ext cx="1534344" cy="387588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4 CLUSTERS</a:t>
            </a:r>
          </a:p>
        </p:txBody>
      </p:sp>
    </p:spTree>
    <p:extLst>
      <p:ext uri="{BB962C8B-B14F-4D97-AF65-F5344CB8AC3E}">
        <p14:creationId xmlns:p14="http://schemas.microsoft.com/office/powerpoint/2010/main" val="309645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6CF19A-F4CF-74A5-69FE-DF0ED340F50D}"/>
              </a:ext>
            </a:extLst>
          </p:cNvPr>
          <p:cNvSpPr/>
          <p:nvPr/>
        </p:nvSpPr>
        <p:spPr>
          <a:xfrm>
            <a:off x="6705600" y="540327"/>
            <a:ext cx="3584172" cy="1308080"/>
          </a:xfrm>
          <a:prstGeom prst="roundRect">
            <a:avLst/>
          </a:prstGeom>
          <a:solidFill>
            <a:schemeClr val="accent1">
              <a:alpha val="5001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AF14921-1AA0-2C45-1BCA-4D0734CCE85F}"/>
              </a:ext>
            </a:extLst>
          </p:cNvPr>
          <p:cNvSpPr txBox="1">
            <a:spLocks/>
          </p:cNvSpPr>
          <p:nvPr/>
        </p:nvSpPr>
        <p:spPr>
          <a:xfrm>
            <a:off x="6890327" y="680289"/>
            <a:ext cx="3399445" cy="116811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070C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Rolling windows forecasting</a:t>
            </a:r>
          </a:p>
        </p:txBody>
      </p:sp>
      <p:sp>
        <p:nvSpPr>
          <p:cNvPr id="4" name="CasellaDiTesto 4">
            <a:extLst>
              <a:ext uri="{FF2B5EF4-FFF2-40B4-BE49-F238E27FC236}">
                <a16:creationId xmlns:a16="http://schemas.microsoft.com/office/drawing/2014/main" id="{6CAAC257-B242-E83F-52D0-F058640157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0327" y="2328355"/>
            <a:ext cx="35530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evaluate how well our models perform in real-world, out-of-sample prediction, we apply a rolling window forecasting procedure.</a:t>
            </a:r>
          </a:p>
          <a:p>
            <a:endParaRPr lang="it-IT" dirty="0"/>
          </a:p>
          <a:p>
            <a:r>
              <a:rPr lang="en-US" dirty="0"/>
              <a:t>This method simulates a scenario where, at each forecast point, we only use past information, avoiding any look-ahead bias.</a:t>
            </a:r>
            <a:r>
              <a:rPr lang="it-IT" dirty="0"/>
              <a:t> </a:t>
            </a:r>
            <a:endParaRPr lang="en-US" dirty="0"/>
          </a:p>
        </p:txBody>
      </p:sp>
      <p:sp>
        <p:nvSpPr>
          <p:cNvPr id="5" name="CasellaDiTesto 5">
            <a:extLst>
              <a:ext uri="{FF2B5EF4-FFF2-40B4-BE49-F238E27FC236}">
                <a16:creationId xmlns:a16="http://schemas.microsoft.com/office/drawing/2014/main" id="{7097DBFD-91A0-906A-2DE3-60C9CF0C5D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5661" y="4724400"/>
            <a:ext cx="5400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>
                <a:solidFill>
                  <a:srgbClr val="92D050"/>
                </a:solidFill>
              </a:rPr>
              <a:t>We use 623 monthly observations of CO2 growth:</a:t>
            </a:r>
          </a:p>
          <a:p>
            <a:endParaRPr lang="it-IT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first 415 observation (2\3) are used for training</a:t>
            </a:r>
            <a:endParaRPr lang="it-IT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remaining 208 (1\3) observations from the test set for rolling forecast</a:t>
            </a:r>
            <a:endParaRPr lang="it-IT" dirty="0"/>
          </a:p>
          <a:p>
            <a:endParaRPr lang="en-US" dirty="0"/>
          </a:p>
        </p:txBody>
      </p:sp>
      <p:pic>
        <p:nvPicPr>
          <p:cNvPr id="8" name="Picture 7" descr="A hand holding a pen&#10;&#10;AI-generated content may be incorrect.">
            <a:extLst>
              <a:ext uri="{FF2B5EF4-FFF2-40B4-BE49-F238E27FC236}">
                <a16:creationId xmlns:a16="http://schemas.microsoft.com/office/drawing/2014/main" id="{A098B43D-2544-FA8B-DC01-F038A635BB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30" y="654050"/>
            <a:ext cx="49276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3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99AA4-2FAD-F946-E985-54568E29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224" y="-227909"/>
            <a:ext cx="6933744" cy="3212834"/>
          </a:xfrm>
          <a:prstGeom prst="rect">
            <a:avLst/>
          </a:prstGeom>
        </p:spPr>
      </p:pic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59642077-A75A-E1E7-F3F4-1ECDC70D611B}"/>
              </a:ext>
            </a:extLst>
          </p:cNvPr>
          <p:cNvSpPr txBox="1">
            <a:spLocks/>
          </p:cNvSpPr>
          <p:nvPr/>
        </p:nvSpPr>
        <p:spPr>
          <a:xfrm>
            <a:off x="266375" y="3246254"/>
            <a:ext cx="5829625" cy="36117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For each point from t=416 to t=623:</a:t>
            </a:r>
            <a:endParaRPr lang="it-IT" dirty="0"/>
          </a:p>
          <a:p>
            <a:r>
              <a:rPr lang="en-US" dirty="0"/>
              <a:t>We re-estimate an OLS model using an expanding window</a:t>
            </a:r>
            <a:endParaRPr lang="it-IT" dirty="0"/>
          </a:p>
          <a:p>
            <a:r>
              <a:rPr lang="en-US" dirty="0"/>
              <a:t>A one-step-ahead forecast is generated</a:t>
            </a:r>
            <a:endParaRPr lang="it-IT" dirty="0"/>
          </a:p>
          <a:p>
            <a:r>
              <a:rPr lang="en-US" dirty="0"/>
              <a:t>This create a sequences of 208 predictions</a:t>
            </a:r>
            <a:endParaRPr lang="it-IT" dirty="0"/>
          </a:p>
          <a:p>
            <a:r>
              <a:rPr lang="en-US" dirty="0"/>
              <a:t>We evaluate performance using the Root Mean Squared Error (RMSE)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OLS RMSE is 0.11136, is the lowest error among all models</a:t>
            </a:r>
          </a:p>
          <a:p>
            <a:endParaRPr lang="it-IT" sz="1400" dirty="0"/>
          </a:p>
          <a:p>
            <a:endParaRPr lang="en-US" sz="1200" dirty="0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1D91BE74-DB96-4E0B-8238-1DBC849BDFAA}"/>
              </a:ext>
            </a:extLst>
          </p:cNvPr>
          <p:cNvSpPr txBox="1">
            <a:spLocks/>
          </p:cNvSpPr>
          <p:nvPr/>
        </p:nvSpPr>
        <p:spPr>
          <a:xfrm>
            <a:off x="266375" y="2060070"/>
            <a:ext cx="3917698" cy="998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OLS forecasting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5B4E77F-1367-96AF-7C1E-A31A4FE4BAB0}"/>
              </a:ext>
            </a:extLst>
          </p:cNvPr>
          <p:cNvSpPr txBox="1">
            <a:spLocks/>
          </p:cNvSpPr>
          <p:nvPr/>
        </p:nvSpPr>
        <p:spPr>
          <a:xfrm>
            <a:off x="7612444" y="2395541"/>
            <a:ext cx="4231590" cy="66291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 forecasting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2F5B701F-0582-31DA-AC48-4C64D59B82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79755" y="3222835"/>
                <a:ext cx="5492353" cy="3611746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We repeat the process using quantile regression models:</a:t>
                </a:r>
                <a:endParaRPr lang="it-IT" sz="2400" dirty="0"/>
              </a:p>
              <a:p>
                <a:r>
                  <a:rPr lang="en-US" sz="2400" dirty="0"/>
                  <a:t>Initially with tau=0.5 (the median)</a:t>
                </a:r>
                <a:endParaRPr lang="it-IT" sz="2400" dirty="0"/>
              </a:p>
              <a:p>
                <a:r>
                  <a:rPr lang="en-US" sz="2400" dirty="0"/>
                  <a:t>Then extended to tau =0.25,0.5 and 0.75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RMSE: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IT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i="1" baseline="-2500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it-IT" i="1" baseline="-250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i="1" baseline="-2500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it-IT" baseline="-2500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it-IT" baseline="-25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it-IT" baseline="-2500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)^2</m:t>
                            </m:r>
                          </m:e>
                        </m:nary>
                      </m:e>
                    </m:rad>
                  </m:oMath>
                </a14:m>
                <a:endParaRPr lang="it-IT" dirty="0"/>
              </a:p>
              <a:p>
                <a:endParaRPr lang="it-IT" sz="1400" dirty="0"/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2F5B701F-0582-31DA-AC48-4C64D59B8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755" y="3222835"/>
                <a:ext cx="5492353" cy="3611746"/>
              </a:xfrm>
              <a:prstGeom prst="rect">
                <a:avLst/>
              </a:prstGeom>
              <a:blipFill>
                <a:blip r:embed="rId3"/>
                <a:stretch>
                  <a:fillRect l="-1382" t="-2448" b="-1853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59E4E8-B1F2-9156-0A74-A301E704BC60}"/>
              </a:ext>
            </a:extLst>
          </p:cNvPr>
          <p:cNvCxnSpPr/>
          <p:nvPr/>
        </p:nvCxnSpPr>
        <p:spPr>
          <a:xfrm>
            <a:off x="6096000" y="3246254"/>
            <a:ext cx="0" cy="32792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46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6">
            <a:extLst>
              <a:ext uri="{FF2B5EF4-FFF2-40B4-BE49-F238E27FC236}">
                <a16:creationId xmlns:a16="http://schemas.microsoft.com/office/drawing/2014/main" id="{9864D5F1-0025-9980-F5D8-F823F0CB8999}"/>
              </a:ext>
            </a:extLst>
          </p:cNvPr>
          <p:cNvSpPr txBox="1"/>
          <p:nvPr/>
        </p:nvSpPr>
        <p:spPr>
          <a:xfrm>
            <a:off x="630936" y="2807167"/>
            <a:ext cx="3895522" cy="3386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value of the QR are much higher than OLS, as expected.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 Because QR is not optimized for minimizing squared errors. </a:t>
            </a:r>
          </a:p>
        </p:txBody>
      </p:sp>
      <p:pic>
        <p:nvPicPr>
          <p:cNvPr id="5" name="Immagine 1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875AED2-0DF9-56AA-0D95-8569F78CBD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055858"/>
            <a:ext cx="3099816" cy="1673899"/>
          </a:xfrm>
          <a:prstGeom prst="rect">
            <a:avLst/>
          </a:prstGeom>
        </p:spPr>
      </p:pic>
      <p:pic>
        <p:nvPicPr>
          <p:cNvPr id="2" name="Immagine 5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25B3BCE3-16D5-FB87-B9B6-5780FFB8F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00364"/>
            <a:ext cx="3785616" cy="1571030"/>
          </a:xfrm>
          <a:prstGeom prst="rect">
            <a:avLst/>
          </a:prstGeom>
        </p:spPr>
      </p:pic>
      <p:pic>
        <p:nvPicPr>
          <p:cNvPr id="4" name="Immagine 16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EEFFBDC-27AA-F461-0B28-882734E7F3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254463"/>
            <a:ext cx="3099816" cy="1480161"/>
          </a:xfrm>
          <a:prstGeom prst="rect">
            <a:avLst/>
          </a:prstGeom>
        </p:spPr>
      </p:pic>
      <p:pic>
        <p:nvPicPr>
          <p:cNvPr id="6" name="Immagine 20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460B9DB-8F39-9EBE-A455-4503F50A89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669383"/>
            <a:ext cx="3785616" cy="182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8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3C943D9C-9E8D-ACAF-166C-36C2CA6D9370}"/>
              </a:ext>
            </a:extLst>
          </p:cNvPr>
          <p:cNvSpPr txBox="1">
            <a:spLocks/>
          </p:cNvSpPr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dirty="0"/>
              <a:t>Diebold-Mariano-test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7E837A-C67B-30B2-9197-89B33F18D747}"/>
              </a:ext>
            </a:extLst>
          </p:cNvPr>
          <p:cNvSpPr/>
          <p:nvPr/>
        </p:nvSpPr>
        <p:spPr>
          <a:xfrm>
            <a:off x="290946" y="2715491"/>
            <a:ext cx="4592724" cy="3247516"/>
          </a:xfrm>
          <a:prstGeom prst="roundRect">
            <a:avLst/>
          </a:prstGeom>
          <a:solidFill>
            <a:schemeClr val="accent1">
              <a:alpha val="4964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EADC5A9-0168-492D-0A56-706C9D4336C1}"/>
              </a:ext>
            </a:extLst>
          </p:cNvPr>
          <p:cNvSpPr txBox="1">
            <a:spLocks/>
          </p:cNvSpPr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700" dirty="0"/>
              <a:t>The DM test is a widely used statistical tool to compare the predictive accuracy of two competing forecasting models.</a:t>
            </a:r>
          </a:p>
          <a:p>
            <a:pPr marL="0"/>
            <a:r>
              <a:rPr lang="en-US" sz="1700" dirty="0"/>
              <a:t>In our case, we use DM test to assess whether the forecast errors from the OLS model differ significantly from those of the QR models at 3 quantiles:</a:t>
            </a:r>
          </a:p>
          <a:p>
            <a:r>
              <a:rPr lang="en-US" sz="1700" dirty="0"/>
              <a:t> </a:t>
            </a:r>
            <a:r>
              <a:rPr lang="en-US" sz="1700" b="1" dirty="0" err="1"/>
              <a:t>τ</a:t>
            </a:r>
            <a:r>
              <a:rPr lang="en-US" sz="1700" b="1" dirty="0"/>
              <a:t> = 0.25</a:t>
            </a:r>
            <a:endParaRPr lang="en-US" sz="1700" dirty="0"/>
          </a:p>
          <a:p>
            <a:r>
              <a:rPr lang="en-US" sz="1700" b="1" dirty="0" err="1"/>
              <a:t>τ</a:t>
            </a:r>
            <a:r>
              <a:rPr lang="en-US" sz="1700" b="1" dirty="0"/>
              <a:t> = 0.5 (the median)</a:t>
            </a:r>
            <a:endParaRPr lang="en-US" sz="1700" dirty="0"/>
          </a:p>
          <a:p>
            <a:r>
              <a:rPr lang="en-US" sz="1700" b="1" dirty="0" err="1"/>
              <a:t>τ</a:t>
            </a:r>
            <a:r>
              <a:rPr lang="en-US" sz="1700" b="1" dirty="0"/>
              <a:t> = 0.75</a:t>
            </a:r>
            <a:endParaRPr lang="en-US" sz="1700" dirty="0"/>
          </a:p>
          <a:p>
            <a:endParaRPr lang="en-US" sz="1700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AFF7466-2029-FF19-B2DF-7C25D3A35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1" r="2156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4720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4">
            <a:extLst>
              <a:ext uri="{FF2B5EF4-FFF2-40B4-BE49-F238E27FC236}">
                <a16:creationId xmlns:a16="http://schemas.microsoft.com/office/drawing/2014/main" id="{B773513F-9D21-494D-21E8-48ADFA7A32BA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1400" b="1" dirty="0"/>
              <a:t>CASE 1</a:t>
            </a:r>
            <a:r>
              <a:rPr lang="en-US" sz="1400" dirty="0"/>
              <a:t>: OLS vs QR at tau=0.5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DM statistic :-0.19703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p-value: 0.844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this high p-value means we cannot reject the null hypothesis. OLS and Q(at the median) perform equally well in terms of predictive accuracy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1400" b="1" dirty="0"/>
              <a:t>CASE 2</a:t>
            </a:r>
            <a:r>
              <a:rPr lang="en-US" sz="1400" dirty="0"/>
              <a:t>: OLS vs QR at tau=0.75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DM statistic:</a:t>
            </a:r>
            <a:r>
              <a:rPr lang="en-US" sz="1400" dirty="0"/>
              <a:t> –3.663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p-value:</a:t>
            </a:r>
            <a:r>
              <a:rPr lang="en-US" sz="1400" dirty="0"/>
              <a:t> 0.0003166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This result is </a:t>
            </a:r>
            <a:r>
              <a:rPr lang="en-US" sz="1400" b="1" dirty="0"/>
              <a:t>highly significant</a:t>
            </a:r>
            <a:r>
              <a:rPr lang="en-US" sz="1400" dirty="0"/>
              <a:t> at the </a:t>
            </a:r>
            <a:r>
              <a:rPr lang="en-US" sz="1400" b="1" dirty="0"/>
              <a:t>5% level (α = 0.05)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QR at </a:t>
            </a:r>
            <a:r>
              <a:rPr lang="en-US" sz="1400" dirty="0" err="1"/>
              <a:t>τ</a:t>
            </a:r>
            <a:r>
              <a:rPr lang="en-US" sz="1400" dirty="0"/>
              <a:t> = 0.75 performs </a:t>
            </a:r>
            <a:r>
              <a:rPr lang="en-US" sz="1400" b="1" dirty="0"/>
              <a:t>significantly better</a:t>
            </a:r>
            <a:r>
              <a:rPr lang="en-US" sz="1400" dirty="0"/>
              <a:t> than OLS, especially for </a:t>
            </a:r>
            <a:r>
              <a:rPr lang="en-US" sz="1400" b="1" dirty="0"/>
              <a:t>upper-tail outcomes</a:t>
            </a:r>
            <a:r>
              <a:rPr lang="en-US" sz="1400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hand holding a magnifying glass over a clipboard&#10;&#10;AI-generated content may be incorrect.">
            <a:extLst>
              <a:ext uri="{FF2B5EF4-FFF2-40B4-BE49-F238E27FC236}">
                <a16:creationId xmlns:a16="http://schemas.microsoft.com/office/drawing/2014/main" id="{EDCEE096-8769-66C9-A085-DECB2D93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42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0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3EBC1-D48E-479E-E382-ADC400FABADA}"/>
              </a:ext>
            </a:extLst>
          </p:cNvPr>
          <p:cNvSpPr txBox="1"/>
          <p:nvPr/>
        </p:nvSpPr>
        <p:spPr>
          <a:xfrm>
            <a:off x="0" y="2529444"/>
            <a:ext cx="5244589" cy="25541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0070C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Linear and Quantile regression - CO2 analysis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DD1BA7EE-4791-0D10-C090-93C64010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745220"/>
            <a:ext cx="5708649" cy="53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6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B2ED5-F000-16A2-558C-A85DA5EFFBFC}"/>
              </a:ext>
            </a:extLst>
          </p:cNvPr>
          <p:cNvSpPr txBox="1"/>
          <p:nvPr/>
        </p:nvSpPr>
        <p:spPr>
          <a:xfrm>
            <a:off x="1057080" y="4333507"/>
            <a:ext cx="10071536" cy="92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 across multiple quantiles – CO2 analysis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24D059E-5FC3-CC84-714B-B128E9BE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17" y="865398"/>
            <a:ext cx="5069590" cy="2610837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23A7CEA-5847-F0EE-4117-5EFBC57E0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07" y="796725"/>
            <a:ext cx="5065776" cy="274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5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0620E4-788D-24D1-536A-A083C8E785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56603" y="178130"/>
            <a:ext cx="2889973" cy="3622781"/>
          </a:xfrm>
          <a:prstGeom prst="roundRect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9" name="Picture 8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3A871CD8-D554-0FB2-6BBA-AE640A80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37" y="1800503"/>
            <a:ext cx="8308403" cy="400081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45322C-5360-1138-1AD9-34F1E1380F0E}"/>
              </a:ext>
            </a:extLst>
          </p:cNvPr>
          <p:cNvSpPr/>
          <p:nvPr/>
        </p:nvSpPr>
        <p:spPr>
          <a:xfrm>
            <a:off x="4303140" y="394487"/>
            <a:ext cx="4227616" cy="1056904"/>
          </a:xfrm>
          <a:prstGeom prst="roundRect">
            <a:avLst/>
          </a:prstGeom>
          <a:solidFill>
            <a:schemeClr val="tx2">
              <a:lumMod val="50000"/>
              <a:lumOff val="50000"/>
              <a:alpha val="5026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0BA42-51C2-4E66-27B7-4DFAE95FAD7A}"/>
              </a:ext>
            </a:extLst>
          </p:cNvPr>
          <p:cNvSpPr txBox="1"/>
          <p:nvPr/>
        </p:nvSpPr>
        <p:spPr>
          <a:xfrm>
            <a:off x="4473234" y="620394"/>
            <a:ext cx="3874843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 – FRED-MD analysis </a:t>
            </a:r>
          </a:p>
          <a:p>
            <a:endParaRPr lang="en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DF149-769D-53AA-2DD6-15ED7C605781}"/>
              </a:ext>
            </a:extLst>
          </p:cNvPr>
          <p:cNvSpPr txBox="1"/>
          <p:nvPr/>
        </p:nvSpPr>
        <p:spPr>
          <a:xfrm>
            <a:off x="9234734" y="479593"/>
            <a:ext cx="42276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randviewDisplay"/>
              </a:rPr>
              <a:t> 𝝉 </a:t>
            </a:r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= </a:t>
            </a:r>
            <a:r>
              <a:rPr lang="en-US" sz="1800" dirty="0">
                <a:effectLst/>
                <a:latin typeface="GrandviewDisplay"/>
              </a:rPr>
              <a:t>0.1</a:t>
            </a:r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 low income </a:t>
            </a:r>
          </a:p>
          <a:p>
            <a:endParaRPr lang="en-US" sz="1800" dirty="0">
              <a:solidFill>
                <a:schemeClr val="bg1"/>
              </a:solidFill>
              <a:effectLst/>
              <a:latin typeface="Aria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randviewDisplay"/>
              </a:rPr>
              <a:t> 𝝉 </a:t>
            </a:r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= </a:t>
            </a:r>
            <a:r>
              <a:rPr lang="en-US" sz="1800" dirty="0">
                <a:effectLst/>
                <a:latin typeface="GrandviewDisplay"/>
              </a:rPr>
              <a:t>0.5</a:t>
            </a:r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 median </a:t>
            </a:r>
          </a:p>
          <a:p>
            <a:endParaRPr lang="en-US" sz="1800" dirty="0">
              <a:solidFill>
                <a:schemeClr val="bg1"/>
              </a:solidFill>
              <a:effectLst/>
              <a:latin typeface="Aria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randviewDisplay"/>
              </a:rPr>
              <a:t> 𝝉 </a:t>
            </a:r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= </a:t>
            </a:r>
            <a:r>
              <a:rPr lang="en-US" sz="1800" dirty="0">
                <a:effectLst/>
                <a:latin typeface="GrandviewDisplay"/>
              </a:rPr>
              <a:t>0.9</a:t>
            </a:r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 high income </a:t>
            </a:r>
          </a:p>
          <a:p>
            <a:endParaRPr lang="en-US" sz="1800" dirty="0">
              <a:solidFill>
                <a:schemeClr val="bg1"/>
              </a:solidFill>
              <a:effectLst/>
              <a:latin typeface="ArialMT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effectLst/>
                <a:latin typeface="GrandviewDisplay"/>
              </a:rPr>
              <a:t>Relationship between :</a:t>
            </a:r>
          </a:p>
          <a:p>
            <a:r>
              <a:rPr lang="en-US" sz="1800" dirty="0">
                <a:solidFill>
                  <a:schemeClr val="bg1"/>
                </a:solidFill>
                <a:effectLst/>
                <a:latin typeface="GrandviewDisplay"/>
              </a:rPr>
              <a:t>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  <a:effectLst/>
                <a:latin typeface="GrandviewDisplay"/>
              </a:rPr>
              <a:t>age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  <a:effectLst/>
                <a:latin typeface="GrandviewDisplay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GrandviewDisplay"/>
              </a:rPr>
              <a:t>jobclass</a:t>
            </a:r>
            <a:r>
              <a:rPr lang="en-US" dirty="0">
                <a:solidFill>
                  <a:schemeClr val="bg1"/>
                </a:solidFill>
                <a:effectLst/>
                <a:latin typeface="GrandviewDisplay"/>
              </a:rPr>
              <a:t>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  <a:effectLst/>
                <a:latin typeface="GrandviewDisplay"/>
              </a:rPr>
              <a:t> wage </a:t>
            </a:r>
            <a:r>
              <a:rPr lang="en-US" dirty="0" err="1">
                <a:solidFill>
                  <a:schemeClr val="bg1"/>
                </a:solidFill>
                <a:effectLst/>
                <a:latin typeface="GrandviewDisplay"/>
              </a:rPr>
              <a:t>outcom</a:t>
            </a:r>
            <a:r>
              <a:rPr lang="en-US" dirty="0">
                <a:solidFill>
                  <a:schemeClr val="bg1"/>
                </a:solidFill>
                <a:effectLst/>
                <a:latin typeface="GrandviewDisplay"/>
              </a:rPr>
              <a:t> </a:t>
            </a:r>
            <a:endParaRPr lang="en-US" dirty="0">
              <a:solidFill>
                <a:schemeClr val="bg1"/>
              </a:solidFill>
              <a:effectLst/>
              <a:latin typeface="ArialMT"/>
            </a:endParaRPr>
          </a:p>
          <a:p>
            <a:endParaRPr lang="en-IT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6AF7B0-7D89-CCEF-8224-B6BFD21FE07B}"/>
              </a:ext>
            </a:extLst>
          </p:cNvPr>
          <p:cNvCxnSpPr/>
          <p:nvPr/>
        </p:nvCxnSpPr>
        <p:spPr>
          <a:xfrm>
            <a:off x="8793679" y="394487"/>
            <a:ext cx="0" cy="2037976"/>
          </a:xfrm>
          <a:prstGeom prst="line">
            <a:avLst/>
          </a:prstGeom>
          <a:ln w="73025" cap="sq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89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age and age&#10;&#10;AI-generated content may be incorrect.">
            <a:extLst>
              <a:ext uri="{FF2B5EF4-FFF2-40B4-BE49-F238E27FC236}">
                <a16:creationId xmlns:a16="http://schemas.microsoft.com/office/drawing/2014/main" id="{CECE9D6F-401F-05E4-C897-6028BF0F94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619" y="436394"/>
            <a:ext cx="7772400" cy="5223658"/>
          </a:xfrm>
          <a:prstGeom prst="rect">
            <a:avLst/>
          </a:prstGeom>
        </p:spPr>
      </p:pic>
      <p:sp>
        <p:nvSpPr>
          <p:cNvPr id="7" name="Block Arc 6">
            <a:extLst>
              <a:ext uri="{FF2B5EF4-FFF2-40B4-BE49-F238E27FC236}">
                <a16:creationId xmlns:a16="http://schemas.microsoft.com/office/drawing/2014/main" id="{C41D55A6-2E76-6DEE-42E8-CA89AE3E2094}"/>
              </a:ext>
            </a:extLst>
          </p:cNvPr>
          <p:cNvSpPr/>
          <p:nvPr/>
        </p:nvSpPr>
        <p:spPr>
          <a:xfrm rot="16200000">
            <a:off x="391735" y="555771"/>
            <a:ext cx="5401771" cy="5329278"/>
          </a:xfrm>
          <a:prstGeom prst="block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085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F62DB-CD85-2D67-2841-099C68806F0F}"/>
              </a:ext>
            </a:extLst>
          </p:cNvPr>
          <p:cNvSpPr txBox="1"/>
          <p:nvPr/>
        </p:nvSpPr>
        <p:spPr>
          <a:xfrm>
            <a:off x="2684450" y="570053"/>
            <a:ext cx="637706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effectLst/>
                <a:latin typeface="AkayaTelivigala" pitchFamily="2" charset="77"/>
                <a:cs typeface="AkayaTelivigala" pitchFamily="2" charset="77"/>
              </a:rPr>
              <a:t>Conclusion Fred-MD analysis </a:t>
            </a:r>
          </a:p>
          <a:p>
            <a:endParaRPr lang="en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9F60E-FB88-C649-F23A-9F77DC787794}"/>
              </a:ext>
            </a:extLst>
          </p:cNvPr>
          <p:cNvSpPr txBox="1"/>
          <p:nvPr/>
        </p:nvSpPr>
        <p:spPr>
          <a:xfrm>
            <a:off x="1966855" y="2379184"/>
            <a:ext cx="880978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ArialMT"/>
              </a:rPr>
              <a:t>• </a:t>
            </a:r>
            <a: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 provides deeper insight than OLS for wage determinants</a:t>
            </a:r>
          </a:p>
          <a:p>
            <a:b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• Age and experience prove more influential for high earners than low earners</a:t>
            </a:r>
          </a:p>
          <a:p>
            <a:b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• OLS misses these crucial nuances across the wage distribution</a:t>
            </a:r>
          </a:p>
          <a:p>
            <a:b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• QR is valuable for understanding :</a:t>
            </a:r>
          </a:p>
          <a:p>
            <a:endParaRPr lang="en-US" sz="1800" dirty="0"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inequality </a:t>
            </a:r>
            <a:r>
              <a:rPr lang="en-US" dirty="0"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>
                <a:solidFill>
                  <a:srgbClr val="FFC00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wage dynamics, 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and labor market structure 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98952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8250</TotalTime>
  <Words>1768</Words>
  <Application>Microsoft Macintosh PowerPoint</Application>
  <PresentationFormat>Widescreen</PresentationFormat>
  <Paragraphs>342</Paragraphs>
  <Slides>44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Adelle Sans Devanagari</vt:lpstr>
      <vt:lpstr>ADLaM Display</vt:lpstr>
      <vt:lpstr>AkayaKanadaka</vt:lpstr>
      <vt:lpstr>AkayaTelivigala</vt:lpstr>
      <vt:lpstr>Aptos</vt:lpstr>
      <vt:lpstr>Aptos Display</vt:lpstr>
      <vt:lpstr>Arial</vt:lpstr>
      <vt:lpstr>ArialMT</vt:lpstr>
      <vt:lpstr>Calibri</vt:lpstr>
      <vt:lpstr>Cambria Math</vt:lpstr>
      <vt:lpstr>Copperplate Gothic Bold</vt:lpstr>
      <vt:lpstr>GrandviewDisplay</vt:lpstr>
      <vt:lpstr>Segoe UI Web (West European)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Quantile Regression Visulazation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BALAWAL KHAN</dc:creator>
  <cp:lastModifiedBy>BALAWAL KHAN</cp:lastModifiedBy>
  <cp:revision>57</cp:revision>
  <dcterms:created xsi:type="dcterms:W3CDTF">2025-06-26T12:28:05Z</dcterms:created>
  <dcterms:modified xsi:type="dcterms:W3CDTF">2025-07-02T06:23:48Z</dcterms:modified>
</cp:coreProperties>
</file>